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Inter"/>
      <p:regular r:id="rId27"/>
      <p:bold r:id="rId28"/>
      <p:italic r:id="rId29"/>
      <p:boldItalic r:id="rId30"/>
    </p:embeddedFont>
    <p:embeddedFont>
      <p:font typeface="Public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5" roundtripDataSignature="AMtx7mjMmiZlSjEYEDBnC+tdEHa7K3Ii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regular.fntdata"/><Relationship Id="rId30" Type="http://schemas.openxmlformats.org/officeDocument/2006/relationships/font" Target="fonts/Inter-boldItalic.fntdata"/><Relationship Id="rId11" Type="http://schemas.openxmlformats.org/officeDocument/2006/relationships/slide" Target="slides/slide6.xml"/><Relationship Id="rId33" Type="http://schemas.openxmlformats.org/officeDocument/2006/relationships/font" Target="fonts/PublicSans-italic.fntdata"/><Relationship Id="rId10" Type="http://schemas.openxmlformats.org/officeDocument/2006/relationships/slide" Target="slides/slide5.xml"/><Relationship Id="rId32" Type="http://schemas.openxmlformats.org/officeDocument/2006/relationships/font" Target="fonts/PublicSans-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Public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645e32fad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645e32fa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1.jpg"/><Relationship Id="rId4" Type="http://schemas.openxmlformats.org/officeDocument/2006/relationships/image" Target="../media/image3.png"/><Relationship Id="rId5" Type="http://schemas.openxmlformats.org/officeDocument/2006/relationships/image" Target="../media/image40.jpg"/><Relationship Id="rId6" Type="http://schemas.openxmlformats.org/officeDocument/2006/relationships/image" Target="../media/image1.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9.jp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29.png"/><Relationship Id="rId7" Type="http://schemas.openxmlformats.org/officeDocument/2006/relationships/image" Target="../media/image33.png"/><Relationship Id="rId8"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441527"/>
          </a:xfrm>
          <a:custGeom>
            <a:rect b="b" l="l" r="r" t="t"/>
            <a:pathLst>
              <a:path extrusionOk="0" h="10441527" w="18288000">
                <a:moveTo>
                  <a:pt x="0" y="0"/>
                </a:moveTo>
                <a:lnTo>
                  <a:pt x="18288000" y="0"/>
                </a:lnTo>
                <a:lnTo>
                  <a:pt x="18288000" y="10441527"/>
                </a:lnTo>
                <a:lnTo>
                  <a:pt x="0" y="10441527"/>
                </a:lnTo>
                <a:lnTo>
                  <a:pt x="0" y="0"/>
                </a:lnTo>
                <a:close/>
              </a:path>
            </a:pathLst>
          </a:custGeom>
          <a:blipFill rotWithShape="1">
            <a:blip r:embed="rId3">
              <a:alphaModFix/>
            </a:blip>
            <a:stretch>
              <a:fillRect b="-12819" l="-2885" r="0" t="-7313"/>
            </a:stretch>
          </a:blipFill>
          <a:ln>
            <a:noFill/>
          </a:ln>
        </p:spPr>
      </p:sp>
      <p:sp>
        <p:nvSpPr>
          <p:cNvPr id="85" name="Google Shape;85;p1"/>
          <p:cNvSpPr txBox="1"/>
          <p:nvPr/>
        </p:nvSpPr>
        <p:spPr>
          <a:xfrm>
            <a:off x="753801" y="9163050"/>
            <a:ext cx="5060400" cy="6945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4511" u="none" cap="none" strike="noStrike">
                <a:solidFill>
                  <a:srgbClr val="FFFFFF"/>
                </a:solidFill>
                <a:latin typeface="Public Sans"/>
                <a:ea typeface="Public Sans"/>
                <a:cs typeface="Public Sans"/>
                <a:sym typeface="Public Sans"/>
              </a:rPr>
              <a:t>BY .</a:t>
            </a:r>
            <a:r>
              <a:rPr b="0" i="0" lang="en-US" sz="4511" u="none" cap="none" strike="noStrike">
                <a:solidFill>
                  <a:srgbClr val="000000"/>
                </a:solidFill>
                <a:latin typeface="Public Sans"/>
                <a:ea typeface="Public Sans"/>
                <a:cs typeface="Public Sans"/>
                <a:sym typeface="Public Sans"/>
              </a:rPr>
              <a:t> </a:t>
            </a:r>
            <a:r>
              <a:rPr b="0" i="0" lang="en-US" sz="4511" u="none" cap="none" strike="noStrike">
                <a:solidFill>
                  <a:srgbClr val="FFFFFF"/>
                </a:solidFill>
                <a:latin typeface="Public Sans"/>
                <a:ea typeface="Public Sans"/>
                <a:cs typeface="Public Sans"/>
                <a:sym typeface="Public Sans"/>
              </a:rPr>
              <a:t>EGBE GRACE</a:t>
            </a:r>
            <a:endParaRPr/>
          </a:p>
        </p:txBody>
      </p:sp>
      <p:sp>
        <p:nvSpPr>
          <p:cNvPr id="86" name="Google Shape;86;p1"/>
          <p:cNvSpPr/>
          <p:nvPr/>
        </p:nvSpPr>
        <p:spPr>
          <a:xfrm flipH="1" rot="2513844">
            <a:off x="-1706000" y="5092830"/>
            <a:ext cx="6677500" cy="2612572"/>
          </a:xfrm>
          <a:custGeom>
            <a:rect b="b" l="l" r="r" t="t"/>
            <a:pathLst>
              <a:path extrusionOk="0" h="2612572" w="6677500">
                <a:moveTo>
                  <a:pt x="6677500" y="0"/>
                </a:moveTo>
                <a:lnTo>
                  <a:pt x="0" y="0"/>
                </a:lnTo>
                <a:lnTo>
                  <a:pt x="0" y="2612572"/>
                </a:lnTo>
                <a:lnTo>
                  <a:pt x="6677500" y="2612572"/>
                </a:lnTo>
                <a:lnTo>
                  <a:pt x="6677500" y="0"/>
                </a:lnTo>
                <a:close/>
              </a:path>
            </a:pathLst>
          </a:custGeom>
          <a:blipFill rotWithShape="1">
            <a:blip r:embed="rId4">
              <a:alphaModFix amt="50000"/>
            </a:blip>
            <a:stretch>
              <a:fillRect b="0" l="0" r="0" t="0"/>
            </a:stretch>
          </a:blipFill>
          <a:ln>
            <a:noFill/>
          </a:ln>
        </p:spPr>
      </p:sp>
      <p:sp>
        <p:nvSpPr>
          <p:cNvPr id="87" name="Google Shape;87;p1"/>
          <p:cNvSpPr txBox="1"/>
          <p:nvPr/>
        </p:nvSpPr>
        <p:spPr>
          <a:xfrm>
            <a:off x="279918" y="4213212"/>
            <a:ext cx="1049693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Arial"/>
                <a:ea typeface="Arial"/>
                <a:cs typeface="Arial"/>
                <a:sym typeface="Arial"/>
              </a:rPr>
              <a:t>“Retail is no longer local, it’s a global battlefield”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p:nvPr/>
        </p:nvSpPr>
        <p:spPr>
          <a:xfrm rot="5400000">
            <a:off x="4000500" y="-4000500"/>
            <a:ext cx="10287000" cy="18288000"/>
          </a:xfrm>
          <a:custGeom>
            <a:rect b="b" l="l" r="r" t="t"/>
            <a:pathLst>
              <a:path extrusionOk="0" h="18288000" w="10287000">
                <a:moveTo>
                  <a:pt x="0" y="18288000"/>
                </a:moveTo>
                <a:lnTo>
                  <a:pt x="0" y="0"/>
                </a:lnTo>
                <a:lnTo>
                  <a:pt x="10287000" y="0"/>
                </a:lnTo>
                <a:lnTo>
                  <a:pt x="10287000" y="18288000"/>
                </a:lnTo>
                <a:lnTo>
                  <a:pt x="0" y="18288000"/>
                </a:lnTo>
                <a:close/>
              </a:path>
            </a:pathLst>
          </a:custGeom>
          <a:blipFill rotWithShape="1">
            <a:blip r:embed="rId3">
              <a:alphaModFix/>
            </a:blip>
            <a:stretch>
              <a:fillRect b="0" l="-12886" r="-12886" t="0"/>
            </a:stretch>
          </a:blipFill>
          <a:ln>
            <a:noFill/>
          </a:ln>
        </p:spPr>
      </p:sp>
      <p:cxnSp>
        <p:nvCxnSpPr>
          <p:cNvPr id="93" name="Google Shape;93;p2"/>
          <p:cNvCxnSpPr/>
          <p:nvPr/>
        </p:nvCxnSpPr>
        <p:spPr>
          <a:xfrm>
            <a:off x="2076271" y="5137273"/>
            <a:ext cx="5809568" cy="0"/>
          </a:xfrm>
          <a:prstGeom prst="straightConnector1">
            <a:avLst/>
          </a:prstGeom>
          <a:noFill/>
          <a:ln cap="flat" cmpd="sng" w="19050">
            <a:solidFill>
              <a:srgbClr val="23403D">
                <a:alpha val="49803"/>
              </a:srgbClr>
            </a:solidFill>
            <a:prstDash val="solid"/>
            <a:round/>
            <a:headEnd len="sm" w="sm" type="none"/>
            <a:tailEnd len="sm" w="sm" type="none"/>
          </a:ln>
        </p:spPr>
      </p:cxnSp>
      <p:cxnSp>
        <p:nvCxnSpPr>
          <p:cNvPr id="94" name="Google Shape;94;p2"/>
          <p:cNvCxnSpPr/>
          <p:nvPr/>
        </p:nvCxnSpPr>
        <p:spPr>
          <a:xfrm>
            <a:off x="10273261" y="5137273"/>
            <a:ext cx="5809568" cy="0"/>
          </a:xfrm>
          <a:prstGeom prst="straightConnector1">
            <a:avLst/>
          </a:prstGeom>
          <a:noFill/>
          <a:ln cap="flat" cmpd="sng" w="19050">
            <a:solidFill>
              <a:srgbClr val="23403D">
                <a:alpha val="49803"/>
              </a:srgbClr>
            </a:solidFill>
            <a:prstDash val="solid"/>
            <a:round/>
            <a:headEnd len="sm" w="sm" type="none"/>
            <a:tailEnd len="sm" w="sm" type="none"/>
          </a:ln>
        </p:spPr>
      </p:cxnSp>
      <p:cxnSp>
        <p:nvCxnSpPr>
          <p:cNvPr id="95" name="Google Shape;95;p2"/>
          <p:cNvCxnSpPr/>
          <p:nvPr/>
        </p:nvCxnSpPr>
        <p:spPr>
          <a:xfrm>
            <a:off x="2076271" y="6165973"/>
            <a:ext cx="5809568" cy="0"/>
          </a:xfrm>
          <a:prstGeom prst="straightConnector1">
            <a:avLst/>
          </a:prstGeom>
          <a:noFill/>
          <a:ln cap="flat" cmpd="sng" w="19050">
            <a:solidFill>
              <a:srgbClr val="23403D">
                <a:alpha val="49803"/>
              </a:srgbClr>
            </a:solidFill>
            <a:prstDash val="solid"/>
            <a:round/>
            <a:headEnd len="sm" w="sm" type="none"/>
            <a:tailEnd len="sm" w="sm" type="none"/>
          </a:ln>
        </p:spPr>
      </p:cxnSp>
      <p:cxnSp>
        <p:nvCxnSpPr>
          <p:cNvPr id="96" name="Google Shape;96;p2"/>
          <p:cNvCxnSpPr/>
          <p:nvPr/>
        </p:nvCxnSpPr>
        <p:spPr>
          <a:xfrm>
            <a:off x="10273261" y="6165973"/>
            <a:ext cx="5809568" cy="0"/>
          </a:xfrm>
          <a:prstGeom prst="straightConnector1">
            <a:avLst/>
          </a:prstGeom>
          <a:noFill/>
          <a:ln cap="flat" cmpd="sng" w="19050">
            <a:solidFill>
              <a:srgbClr val="23403D">
                <a:alpha val="49803"/>
              </a:srgbClr>
            </a:solidFill>
            <a:prstDash val="solid"/>
            <a:round/>
            <a:headEnd len="sm" w="sm" type="none"/>
            <a:tailEnd len="sm" w="sm" type="none"/>
          </a:ln>
        </p:spPr>
      </p:cxnSp>
      <p:grpSp>
        <p:nvGrpSpPr>
          <p:cNvPr id="97" name="Google Shape;97;p2"/>
          <p:cNvGrpSpPr/>
          <p:nvPr/>
        </p:nvGrpSpPr>
        <p:grpSpPr>
          <a:xfrm rot="5400000">
            <a:off x="1223154" y="4526911"/>
            <a:ext cx="425684" cy="382790"/>
            <a:chOff x="60851" y="89740"/>
            <a:chExt cx="691098" cy="621460"/>
          </a:xfrm>
        </p:grpSpPr>
        <p:sp>
          <p:nvSpPr>
            <p:cNvPr id="98" name="Google Shape;98;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 name="Google Shape;100;p2"/>
          <p:cNvGrpSpPr/>
          <p:nvPr/>
        </p:nvGrpSpPr>
        <p:grpSpPr>
          <a:xfrm rot="5400000">
            <a:off x="9420143" y="4526911"/>
            <a:ext cx="425684" cy="382790"/>
            <a:chOff x="60851" y="89740"/>
            <a:chExt cx="691098" cy="621460"/>
          </a:xfrm>
        </p:grpSpPr>
        <p:sp>
          <p:nvSpPr>
            <p:cNvPr id="101" name="Google Shape;101;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 name="Google Shape;103;p2"/>
          <p:cNvGrpSpPr/>
          <p:nvPr/>
        </p:nvGrpSpPr>
        <p:grpSpPr>
          <a:xfrm rot="5400000">
            <a:off x="1223154" y="5555611"/>
            <a:ext cx="425684" cy="382790"/>
            <a:chOff x="60851" y="89740"/>
            <a:chExt cx="691098" cy="621460"/>
          </a:xfrm>
        </p:grpSpPr>
        <p:sp>
          <p:nvSpPr>
            <p:cNvPr id="104" name="Google Shape;104;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2"/>
          <p:cNvGrpSpPr/>
          <p:nvPr/>
        </p:nvGrpSpPr>
        <p:grpSpPr>
          <a:xfrm rot="5400000">
            <a:off x="9420143" y="5555611"/>
            <a:ext cx="425684" cy="382790"/>
            <a:chOff x="60851" y="89740"/>
            <a:chExt cx="691098" cy="621460"/>
          </a:xfrm>
        </p:grpSpPr>
        <p:sp>
          <p:nvSpPr>
            <p:cNvPr id="107" name="Google Shape;107;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9" name="Google Shape;109;p2"/>
          <p:cNvCxnSpPr/>
          <p:nvPr/>
        </p:nvCxnSpPr>
        <p:spPr>
          <a:xfrm>
            <a:off x="2076271" y="7194673"/>
            <a:ext cx="5809568" cy="0"/>
          </a:xfrm>
          <a:prstGeom prst="straightConnector1">
            <a:avLst/>
          </a:prstGeom>
          <a:noFill/>
          <a:ln cap="flat" cmpd="sng" w="19050">
            <a:solidFill>
              <a:srgbClr val="23403D">
                <a:alpha val="49803"/>
              </a:srgbClr>
            </a:solidFill>
            <a:prstDash val="solid"/>
            <a:round/>
            <a:headEnd len="sm" w="sm" type="none"/>
            <a:tailEnd len="sm" w="sm" type="none"/>
          </a:ln>
        </p:spPr>
      </p:cxnSp>
      <p:cxnSp>
        <p:nvCxnSpPr>
          <p:cNvPr id="110" name="Google Shape;110;p2"/>
          <p:cNvCxnSpPr/>
          <p:nvPr/>
        </p:nvCxnSpPr>
        <p:spPr>
          <a:xfrm>
            <a:off x="2076271" y="8248650"/>
            <a:ext cx="5809568" cy="0"/>
          </a:xfrm>
          <a:prstGeom prst="straightConnector1">
            <a:avLst/>
          </a:prstGeom>
          <a:noFill/>
          <a:ln cap="flat" cmpd="sng" w="19050">
            <a:solidFill>
              <a:srgbClr val="23403D">
                <a:alpha val="49803"/>
              </a:srgbClr>
            </a:solidFill>
            <a:prstDash val="solid"/>
            <a:round/>
            <a:headEnd len="sm" w="sm" type="none"/>
            <a:tailEnd len="sm" w="sm" type="none"/>
          </a:ln>
        </p:spPr>
      </p:cxnSp>
      <p:cxnSp>
        <p:nvCxnSpPr>
          <p:cNvPr id="111" name="Google Shape;111;p2"/>
          <p:cNvCxnSpPr/>
          <p:nvPr/>
        </p:nvCxnSpPr>
        <p:spPr>
          <a:xfrm>
            <a:off x="10273261" y="8239125"/>
            <a:ext cx="5809568" cy="0"/>
          </a:xfrm>
          <a:prstGeom prst="straightConnector1">
            <a:avLst/>
          </a:prstGeom>
          <a:noFill/>
          <a:ln cap="flat" cmpd="sng" w="19050">
            <a:solidFill>
              <a:srgbClr val="23403D">
                <a:alpha val="49803"/>
              </a:srgbClr>
            </a:solidFill>
            <a:prstDash val="solid"/>
            <a:round/>
            <a:headEnd len="sm" w="sm" type="none"/>
            <a:tailEnd len="sm" w="sm" type="none"/>
          </a:ln>
        </p:spPr>
      </p:cxnSp>
      <p:cxnSp>
        <p:nvCxnSpPr>
          <p:cNvPr id="112" name="Google Shape;112;p2"/>
          <p:cNvCxnSpPr/>
          <p:nvPr/>
        </p:nvCxnSpPr>
        <p:spPr>
          <a:xfrm>
            <a:off x="10273261" y="7194673"/>
            <a:ext cx="5809568" cy="0"/>
          </a:xfrm>
          <a:prstGeom prst="straightConnector1">
            <a:avLst/>
          </a:prstGeom>
          <a:noFill/>
          <a:ln cap="flat" cmpd="sng" w="19050">
            <a:solidFill>
              <a:srgbClr val="23403D">
                <a:alpha val="49803"/>
              </a:srgbClr>
            </a:solidFill>
            <a:prstDash val="solid"/>
            <a:round/>
            <a:headEnd len="sm" w="sm" type="none"/>
            <a:tailEnd len="sm" w="sm" type="none"/>
          </a:ln>
        </p:spPr>
      </p:cxnSp>
      <p:grpSp>
        <p:nvGrpSpPr>
          <p:cNvPr id="113" name="Google Shape;113;p2"/>
          <p:cNvGrpSpPr/>
          <p:nvPr/>
        </p:nvGrpSpPr>
        <p:grpSpPr>
          <a:xfrm rot="5400000">
            <a:off x="1223154" y="6584311"/>
            <a:ext cx="425684" cy="382790"/>
            <a:chOff x="60851" y="89740"/>
            <a:chExt cx="691098" cy="621460"/>
          </a:xfrm>
        </p:grpSpPr>
        <p:sp>
          <p:nvSpPr>
            <p:cNvPr id="114" name="Google Shape;114;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 name="Google Shape;116;p2"/>
          <p:cNvGrpSpPr/>
          <p:nvPr/>
        </p:nvGrpSpPr>
        <p:grpSpPr>
          <a:xfrm rot="5400000">
            <a:off x="1223154" y="7634601"/>
            <a:ext cx="425684" cy="382790"/>
            <a:chOff x="60851" y="89740"/>
            <a:chExt cx="691098" cy="621460"/>
          </a:xfrm>
        </p:grpSpPr>
        <p:sp>
          <p:nvSpPr>
            <p:cNvPr id="117" name="Google Shape;117;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2"/>
          <p:cNvGrpSpPr/>
          <p:nvPr/>
        </p:nvGrpSpPr>
        <p:grpSpPr>
          <a:xfrm rot="5400000">
            <a:off x="9420143" y="7634601"/>
            <a:ext cx="425684" cy="382790"/>
            <a:chOff x="60851" y="89740"/>
            <a:chExt cx="691098" cy="621460"/>
          </a:xfrm>
        </p:grpSpPr>
        <p:sp>
          <p:nvSpPr>
            <p:cNvPr id="120" name="Google Shape;120;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 name="Google Shape;122;p2"/>
          <p:cNvGrpSpPr/>
          <p:nvPr/>
        </p:nvGrpSpPr>
        <p:grpSpPr>
          <a:xfrm rot="5400000">
            <a:off x="9420143" y="6584311"/>
            <a:ext cx="425684" cy="382790"/>
            <a:chOff x="60851" y="89740"/>
            <a:chExt cx="691098" cy="621460"/>
          </a:xfrm>
        </p:grpSpPr>
        <p:sp>
          <p:nvSpPr>
            <p:cNvPr id="123" name="Google Shape;123;p2"/>
            <p:cNvSpPr/>
            <p:nvPr/>
          </p:nvSpPr>
          <p:spPr>
            <a:xfrm>
              <a:off x="60851" y="89740"/>
              <a:ext cx="691098" cy="621460"/>
            </a:xfrm>
            <a:custGeom>
              <a:rect b="b" l="l" r="r" t="t"/>
              <a:pathLst>
                <a:path extrusionOk="0" h="621460" w="691098">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1D7363">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txBox="1"/>
            <p:nvPr/>
          </p:nvSpPr>
          <p:spPr>
            <a:xfrm>
              <a:off x="127000" y="263525"/>
              <a:ext cx="558800" cy="396875"/>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5" name="Google Shape;125;p2"/>
          <p:cNvSpPr/>
          <p:nvPr/>
        </p:nvSpPr>
        <p:spPr>
          <a:xfrm rot="-5400000">
            <a:off x="-377917" y="4370418"/>
            <a:ext cx="1022473" cy="511236"/>
          </a:xfrm>
          <a:custGeom>
            <a:rect b="b" l="l" r="r" t="t"/>
            <a:pathLst>
              <a:path extrusionOk="0" h="511236" w="1022473">
                <a:moveTo>
                  <a:pt x="0" y="0"/>
                </a:moveTo>
                <a:lnTo>
                  <a:pt x="1022473" y="0"/>
                </a:lnTo>
                <a:lnTo>
                  <a:pt x="1022473" y="511237"/>
                </a:lnTo>
                <a:lnTo>
                  <a:pt x="0" y="511237"/>
                </a:lnTo>
                <a:lnTo>
                  <a:pt x="0" y="0"/>
                </a:lnTo>
                <a:close/>
              </a:path>
            </a:pathLst>
          </a:custGeom>
          <a:blipFill rotWithShape="1">
            <a:blip r:embed="rId4">
              <a:alphaModFix/>
            </a:blip>
            <a:stretch>
              <a:fillRect b="0" l="0" r="0" t="0"/>
            </a:stretch>
          </a:blipFill>
          <a:ln>
            <a:noFill/>
          </a:ln>
        </p:spPr>
      </p:sp>
      <p:sp>
        <p:nvSpPr>
          <p:cNvPr id="126" name="Google Shape;126;p2"/>
          <p:cNvSpPr txBox="1"/>
          <p:nvPr/>
        </p:nvSpPr>
        <p:spPr>
          <a:xfrm>
            <a:off x="9289414" y="1082004"/>
            <a:ext cx="4903239" cy="11842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8000" u="none" cap="none" strike="noStrike">
                <a:solidFill>
                  <a:srgbClr val="FFFFFF"/>
                </a:solidFill>
                <a:latin typeface="Arial"/>
                <a:ea typeface="Arial"/>
                <a:cs typeface="Arial"/>
                <a:sym typeface="Arial"/>
              </a:rPr>
              <a:t>AGENDA</a:t>
            </a:r>
            <a:endParaRPr/>
          </a:p>
        </p:txBody>
      </p:sp>
      <p:sp>
        <p:nvSpPr>
          <p:cNvPr id="127" name="Google Shape;127;p2"/>
          <p:cNvSpPr/>
          <p:nvPr/>
        </p:nvSpPr>
        <p:spPr>
          <a:xfrm>
            <a:off x="-1147664" y="-1005277"/>
            <a:ext cx="9394899" cy="4424752"/>
          </a:xfrm>
          <a:custGeom>
            <a:rect b="b" l="l" r="r" t="t"/>
            <a:pathLst>
              <a:path extrusionOk="0" h="685510" w="1455516">
                <a:moveTo>
                  <a:pt x="0" y="0"/>
                </a:moveTo>
                <a:lnTo>
                  <a:pt x="1455516" y="0"/>
                </a:lnTo>
                <a:lnTo>
                  <a:pt x="1455516" y="685510"/>
                </a:lnTo>
                <a:lnTo>
                  <a:pt x="0" y="685510"/>
                </a:lnTo>
                <a:close/>
              </a:path>
            </a:pathLst>
          </a:custGeom>
          <a:blipFill rotWithShape="1">
            <a:blip r:embed="rId5">
              <a:alphaModFix/>
            </a:blip>
            <a:stretch>
              <a:fillRect b="-20727" l="0" r="0" t="-20729"/>
            </a:stretch>
          </a:blipFill>
          <a:ln>
            <a:noFill/>
          </a:ln>
        </p:spPr>
      </p:sp>
      <p:grpSp>
        <p:nvGrpSpPr>
          <p:cNvPr id="128" name="Google Shape;128;p2"/>
          <p:cNvGrpSpPr/>
          <p:nvPr/>
        </p:nvGrpSpPr>
        <p:grpSpPr>
          <a:xfrm>
            <a:off x="5873230" y="-1093635"/>
            <a:ext cx="9272041" cy="4205770"/>
            <a:chOff x="0" y="-66675"/>
            <a:chExt cx="930920" cy="422262"/>
          </a:xfrm>
        </p:grpSpPr>
        <p:sp>
          <p:nvSpPr>
            <p:cNvPr id="129" name="Google Shape;129;p2"/>
            <p:cNvSpPr/>
            <p:nvPr/>
          </p:nvSpPr>
          <p:spPr>
            <a:xfrm>
              <a:off x="0" y="0"/>
              <a:ext cx="930920" cy="355587"/>
            </a:xfrm>
            <a:custGeom>
              <a:rect b="b" l="l" r="r" t="t"/>
              <a:pathLst>
                <a:path extrusionOk="0" h="355587" w="930920">
                  <a:moveTo>
                    <a:pt x="727720" y="0"/>
                  </a:moveTo>
                  <a:lnTo>
                    <a:pt x="0" y="0"/>
                  </a:lnTo>
                  <a:lnTo>
                    <a:pt x="203200" y="355587"/>
                  </a:lnTo>
                  <a:lnTo>
                    <a:pt x="930920" y="355587"/>
                  </a:lnTo>
                  <a:lnTo>
                    <a:pt x="727720" y="0"/>
                  </a:lnTo>
                  <a:close/>
                </a:path>
              </a:pathLst>
            </a:custGeom>
            <a:solidFill>
              <a:srgbClr val="FFFFFF"/>
            </a:solidFill>
            <a:ln>
              <a:noFill/>
            </a:ln>
          </p:spPr>
        </p:sp>
        <p:sp>
          <p:nvSpPr>
            <p:cNvPr id="130" name="Google Shape;130;p2"/>
            <p:cNvSpPr txBox="1"/>
            <p:nvPr/>
          </p:nvSpPr>
          <p:spPr>
            <a:xfrm>
              <a:off x="101600" y="-66675"/>
              <a:ext cx="727720" cy="422262"/>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 name="Google Shape;131;p2"/>
          <p:cNvGrpSpPr/>
          <p:nvPr/>
        </p:nvGrpSpPr>
        <p:grpSpPr>
          <a:xfrm rot="10800000">
            <a:off x="5102260" y="-589970"/>
            <a:ext cx="4380429" cy="3700331"/>
            <a:chOff x="20421" y="28584"/>
            <a:chExt cx="771959" cy="652106"/>
          </a:xfrm>
        </p:grpSpPr>
        <p:sp>
          <p:nvSpPr>
            <p:cNvPr id="132" name="Google Shape;132;p2"/>
            <p:cNvSpPr/>
            <p:nvPr/>
          </p:nvSpPr>
          <p:spPr>
            <a:xfrm>
              <a:off x="20421" y="28584"/>
              <a:ext cx="771959" cy="652106"/>
            </a:xfrm>
            <a:custGeom>
              <a:rect b="b" l="l" r="r" t="t"/>
              <a:pathLst>
                <a:path extrusionOk="0" h="652106" w="771959">
                  <a:moveTo>
                    <a:pt x="411794" y="14654"/>
                  </a:moveTo>
                  <a:lnTo>
                    <a:pt x="766564" y="608868"/>
                  </a:lnTo>
                  <a:cubicBezTo>
                    <a:pt x="771838" y="617701"/>
                    <a:pt x="771958" y="628686"/>
                    <a:pt x="766880" y="637632"/>
                  </a:cubicBezTo>
                  <a:cubicBezTo>
                    <a:pt x="761802" y="646578"/>
                    <a:pt x="752309" y="652106"/>
                    <a:pt x="742022" y="652106"/>
                  </a:cubicBezTo>
                  <a:lnTo>
                    <a:pt x="29936" y="652106"/>
                  </a:lnTo>
                  <a:cubicBezTo>
                    <a:pt x="19649" y="652106"/>
                    <a:pt x="10156" y="646578"/>
                    <a:pt x="5078" y="637632"/>
                  </a:cubicBezTo>
                  <a:cubicBezTo>
                    <a:pt x="0" y="628686"/>
                    <a:pt x="120" y="617701"/>
                    <a:pt x="5394" y="608868"/>
                  </a:cubicBezTo>
                  <a:lnTo>
                    <a:pt x="360164" y="14654"/>
                  </a:lnTo>
                  <a:cubicBezTo>
                    <a:pt x="365590" y="5566"/>
                    <a:pt x="375395" y="0"/>
                    <a:pt x="385979" y="0"/>
                  </a:cubicBezTo>
                  <a:cubicBezTo>
                    <a:pt x="396563" y="0"/>
                    <a:pt x="406368" y="5566"/>
                    <a:pt x="411794" y="14654"/>
                  </a:cubicBezTo>
                  <a:close/>
                </a:path>
              </a:pathLst>
            </a:custGeom>
            <a:solidFill>
              <a:srgbClr val="23403D">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txBox="1"/>
            <p:nvPr/>
          </p:nvSpPr>
          <p:spPr>
            <a:xfrm>
              <a:off x="127000" y="249360"/>
              <a:ext cx="558800" cy="382710"/>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p2"/>
          <p:cNvGrpSpPr/>
          <p:nvPr/>
        </p:nvGrpSpPr>
        <p:grpSpPr>
          <a:xfrm>
            <a:off x="6601173" y="-928412"/>
            <a:ext cx="14197039" cy="4386745"/>
            <a:chOff x="6123" y="-66675"/>
            <a:chExt cx="1425393" cy="440432"/>
          </a:xfrm>
        </p:grpSpPr>
        <p:sp>
          <p:nvSpPr>
            <p:cNvPr id="135" name="Google Shape;135;p2"/>
            <p:cNvSpPr/>
            <p:nvPr/>
          </p:nvSpPr>
          <p:spPr>
            <a:xfrm>
              <a:off x="6123" y="0"/>
              <a:ext cx="1425393" cy="373757"/>
            </a:xfrm>
            <a:custGeom>
              <a:rect b="b" l="l" r="r" t="t"/>
              <a:pathLst>
                <a:path extrusionOk="0" h="373757" w="1425393">
                  <a:moveTo>
                    <a:pt x="1212095" y="0"/>
                  </a:moveTo>
                  <a:lnTo>
                    <a:pt x="10097" y="0"/>
                  </a:lnTo>
                  <a:cubicBezTo>
                    <a:pt x="6696" y="0"/>
                    <a:pt x="3546" y="1792"/>
                    <a:pt x="1808" y="4715"/>
                  </a:cubicBezTo>
                  <a:cubicBezTo>
                    <a:pt x="69" y="7639"/>
                    <a:pt x="0" y="11262"/>
                    <a:pt x="1624" y="14250"/>
                  </a:cubicBezTo>
                  <a:lnTo>
                    <a:pt x="189330" y="359507"/>
                  </a:lnTo>
                  <a:cubicBezTo>
                    <a:pt x="194104" y="368290"/>
                    <a:pt x="203301" y="373757"/>
                    <a:pt x="213297" y="373757"/>
                  </a:cubicBezTo>
                  <a:lnTo>
                    <a:pt x="1415295" y="373757"/>
                  </a:lnTo>
                  <a:cubicBezTo>
                    <a:pt x="1418697" y="373757"/>
                    <a:pt x="1421846" y="371966"/>
                    <a:pt x="1423585" y="369042"/>
                  </a:cubicBezTo>
                  <a:cubicBezTo>
                    <a:pt x="1425323" y="366118"/>
                    <a:pt x="1425393" y="362495"/>
                    <a:pt x="1423768" y="359507"/>
                  </a:cubicBezTo>
                  <a:lnTo>
                    <a:pt x="1236063" y="14250"/>
                  </a:lnTo>
                  <a:cubicBezTo>
                    <a:pt x="1231288" y="5468"/>
                    <a:pt x="1222092" y="0"/>
                    <a:pt x="1212095" y="0"/>
                  </a:cubicBezTo>
                  <a:close/>
                </a:path>
              </a:pathLst>
            </a:custGeom>
            <a:solidFill>
              <a:srgbClr val="9AC4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txBox="1"/>
            <p:nvPr/>
          </p:nvSpPr>
          <p:spPr>
            <a:xfrm>
              <a:off x="101600" y="-66675"/>
              <a:ext cx="1234438" cy="440432"/>
            </a:xfrm>
            <a:prstGeom prst="rect">
              <a:avLst/>
            </a:prstGeom>
            <a:noFill/>
            <a:ln>
              <a:noFill/>
            </a:ln>
          </p:spPr>
          <p:txBody>
            <a:bodyPr anchorCtr="0" anchor="ctr" bIns="50800" lIns="50800" spcFirstLastPara="1" rIns="50800" wrap="square" tIns="50800">
              <a:noAutofit/>
            </a:bodyPr>
            <a:lstStyle/>
            <a:p>
              <a:pPr indent="0" lvl="0" marL="0" marR="0" rtl="0" algn="ctr">
                <a:lnSpc>
                  <a:spcPct val="20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2"/>
          <p:cNvSpPr/>
          <p:nvPr/>
        </p:nvSpPr>
        <p:spPr>
          <a:xfrm flipH="1" rot="2513844">
            <a:off x="13393500" y="-665480"/>
            <a:ext cx="6677500" cy="2612572"/>
          </a:xfrm>
          <a:custGeom>
            <a:rect b="b" l="l" r="r" t="t"/>
            <a:pathLst>
              <a:path extrusionOk="0" h="2612572" w="6677500">
                <a:moveTo>
                  <a:pt x="6677500" y="0"/>
                </a:moveTo>
                <a:lnTo>
                  <a:pt x="0" y="0"/>
                </a:lnTo>
                <a:lnTo>
                  <a:pt x="0" y="2612572"/>
                </a:lnTo>
                <a:lnTo>
                  <a:pt x="6677500" y="2612572"/>
                </a:lnTo>
                <a:lnTo>
                  <a:pt x="6677500" y="0"/>
                </a:lnTo>
                <a:close/>
              </a:path>
            </a:pathLst>
          </a:custGeom>
          <a:blipFill rotWithShape="1">
            <a:blip r:embed="rId6">
              <a:alphaModFix amt="50000"/>
            </a:blip>
            <a:stretch>
              <a:fillRect b="0" l="0" r="0" t="0"/>
            </a:stretch>
          </a:blipFill>
          <a:ln>
            <a:noFill/>
          </a:ln>
        </p:spPr>
      </p:sp>
      <p:sp>
        <p:nvSpPr>
          <p:cNvPr id="138" name="Google Shape;138;p2"/>
          <p:cNvSpPr/>
          <p:nvPr/>
        </p:nvSpPr>
        <p:spPr>
          <a:xfrm rot="-5400000">
            <a:off x="17259300" y="7096804"/>
            <a:ext cx="2057400" cy="807530"/>
          </a:xfrm>
          <a:custGeom>
            <a:rect b="b" l="l" r="r" t="t"/>
            <a:pathLst>
              <a:path extrusionOk="0" h="807530" w="2057400">
                <a:moveTo>
                  <a:pt x="0" y="0"/>
                </a:moveTo>
                <a:lnTo>
                  <a:pt x="2057400" y="0"/>
                </a:lnTo>
                <a:lnTo>
                  <a:pt x="2057400" y="807530"/>
                </a:lnTo>
                <a:lnTo>
                  <a:pt x="0" y="807530"/>
                </a:lnTo>
                <a:lnTo>
                  <a:pt x="0" y="0"/>
                </a:lnTo>
                <a:close/>
              </a:path>
            </a:pathLst>
          </a:custGeom>
          <a:blipFill rotWithShape="1">
            <a:blip r:embed="rId7">
              <a:alphaModFix/>
            </a:blip>
            <a:stretch>
              <a:fillRect b="0" l="0" r="0" t="0"/>
            </a:stretch>
          </a:blipFill>
          <a:ln>
            <a:noFill/>
          </a:ln>
        </p:spPr>
      </p:sp>
      <p:sp>
        <p:nvSpPr>
          <p:cNvPr id="139" name="Google Shape;139;p2"/>
          <p:cNvSpPr txBox="1"/>
          <p:nvPr/>
        </p:nvSpPr>
        <p:spPr>
          <a:xfrm>
            <a:off x="2076271" y="4347333"/>
            <a:ext cx="4816156"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Introduction</a:t>
            </a:r>
            <a:endParaRPr/>
          </a:p>
        </p:txBody>
      </p:sp>
      <p:sp>
        <p:nvSpPr>
          <p:cNvPr id="140" name="Google Shape;140;p2"/>
          <p:cNvSpPr txBox="1"/>
          <p:nvPr/>
        </p:nvSpPr>
        <p:spPr>
          <a:xfrm>
            <a:off x="10053751" y="4353050"/>
            <a:ext cx="4903239"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 Insights</a:t>
            </a:r>
            <a:endParaRPr/>
          </a:p>
        </p:txBody>
      </p:sp>
      <p:sp>
        <p:nvSpPr>
          <p:cNvPr id="141" name="Google Shape;141;p2"/>
          <p:cNvSpPr txBox="1"/>
          <p:nvPr/>
        </p:nvSpPr>
        <p:spPr>
          <a:xfrm>
            <a:off x="2076271" y="5376033"/>
            <a:ext cx="4816156"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Project Overview</a:t>
            </a:r>
            <a:endParaRPr/>
          </a:p>
        </p:txBody>
      </p:sp>
      <p:sp>
        <p:nvSpPr>
          <p:cNvPr id="142" name="Google Shape;142;p2"/>
          <p:cNvSpPr txBox="1"/>
          <p:nvPr/>
        </p:nvSpPr>
        <p:spPr>
          <a:xfrm>
            <a:off x="10066730" y="5376033"/>
            <a:ext cx="5600286"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Real -World Application and Impact</a:t>
            </a:r>
            <a:endParaRPr/>
          </a:p>
        </p:txBody>
      </p:sp>
      <p:sp>
        <p:nvSpPr>
          <p:cNvPr id="143" name="Google Shape;143;p2"/>
          <p:cNvSpPr txBox="1"/>
          <p:nvPr/>
        </p:nvSpPr>
        <p:spPr>
          <a:xfrm>
            <a:off x="7282952" y="432891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01</a:t>
            </a:r>
            <a:endParaRPr/>
          </a:p>
        </p:txBody>
      </p:sp>
      <p:sp>
        <p:nvSpPr>
          <p:cNvPr id="144" name="Google Shape;144;p2"/>
          <p:cNvSpPr txBox="1"/>
          <p:nvPr/>
        </p:nvSpPr>
        <p:spPr>
          <a:xfrm>
            <a:off x="15479942" y="432891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05</a:t>
            </a:r>
            <a:endParaRPr/>
          </a:p>
        </p:txBody>
      </p:sp>
      <p:sp>
        <p:nvSpPr>
          <p:cNvPr id="145" name="Google Shape;145;p2"/>
          <p:cNvSpPr txBox="1"/>
          <p:nvPr/>
        </p:nvSpPr>
        <p:spPr>
          <a:xfrm>
            <a:off x="7282952" y="535761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02</a:t>
            </a:r>
            <a:endParaRPr/>
          </a:p>
        </p:txBody>
      </p:sp>
      <p:sp>
        <p:nvSpPr>
          <p:cNvPr id="146" name="Google Shape;146;p2"/>
          <p:cNvSpPr txBox="1"/>
          <p:nvPr/>
        </p:nvSpPr>
        <p:spPr>
          <a:xfrm>
            <a:off x="15479942" y="535761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06</a:t>
            </a:r>
            <a:endParaRPr/>
          </a:p>
        </p:txBody>
      </p:sp>
      <p:sp>
        <p:nvSpPr>
          <p:cNvPr id="147" name="Google Shape;147;p2"/>
          <p:cNvSpPr txBox="1"/>
          <p:nvPr/>
        </p:nvSpPr>
        <p:spPr>
          <a:xfrm>
            <a:off x="2076271" y="6404733"/>
            <a:ext cx="4816156"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Data Wrangling</a:t>
            </a:r>
            <a:endParaRPr/>
          </a:p>
        </p:txBody>
      </p:sp>
      <p:sp>
        <p:nvSpPr>
          <p:cNvPr id="148" name="Google Shape;148;p2"/>
          <p:cNvSpPr txBox="1"/>
          <p:nvPr/>
        </p:nvSpPr>
        <p:spPr>
          <a:xfrm>
            <a:off x="2076271" y="7455023"/>
            <a:ext cx="4816156"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Data Analysis and Visualisation</a:t>
            </a:r>
            <a:endParaRPr/>
          </a:p>
        </p:txBody>
      </p:sp>
      <p:sp>
        <p:nvSpPr>
          <p:cNvPr id="149" name="Google Shape;149;p2"/>
          <p:cNvSpPr txBox="1"/>
          <p:nvPr/>
        </p:nvSpPr>
        <p:spPr>
          <a:xfrm>
            <a:off x="10273261" y="7455023"/>
            <a:ext cx="4816156"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Conclusion</a:t>
            </a:r>
            <a:endParaRPr/>
          </a:p>
        </p:txBody>
      </p:sp>
      <p:sp>
        <p:nvSpPr>
          <p:cNvPr id="150" name="Google Shape;150;p2"/>
          <p:cNvSpPr txBox="1"/>
          <p:nvPr/>
        </p:nvSpPr>
        <p:spPr>
          <a:xfrm>
            <a:off x="10186179" y="6386318"/>
            <a:ext cx="4903239" cy="5651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Challenges and Learning</a:t>
            </a:r>
            <a:endParaRPr/>
          </a:p>
        </p:txBody>
      </p:sp>
      <p:sp>
        <p:nvSpPr>
          <p:cNvPr id="151" name="Google Shape;151;p2"/>
          <p:cNvSpPr txBox="1"/>
          <p:nvPr/>
        </p:nvSpPr>
        <p:spPr>
          <a:xfrm>
            <a:off x="7282952" y="638631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03</a:t>
            </a:r>
            <a:endParaRPr/>
          </a:p>
        </p:txBody>
      </p:sp>
      <p:sp>
        <p:nvSpPr>
          <p:cNvPr id="152" name="Google Shape;152;p2"/>
          <p:cNvSpPr txBox="1"/>
          <p:nvPr/>
        </p:nvSpPr>
        <p:spPr>
          <a:xfrm>
            <a:off x="7282952" y="743660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04</a:t>
            </a:r>
            <a:endParaRPr/>
          </a:p>
        </p:txBody>
      </p:sp>
      <p:sp>
        <p:nvSpPr>
          <p:cNvPr id="153" name="Google Shape;153;p2"/>
          <p:cNvSpPr txBox="1"/>
          <p:nvPr/>
        </p:nvSpPr>
        <p:spPr>
          <a:xfrm>
            <a:off x="15479942" y="743660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08</a:t>
            </a:r>
            <a:endParaRPr/>
          </a:p>
        </p:txBody>
      </p:sp>
      <p:sp>
        <p:nvSpPr>
          <p:cNvPr id="154" name="Google Shape;154;p2"/>
          <p:cNvSpPr txBox="1"/>
          <p:nvPr/>
        </p:nvSpPr>
        <p:spPr>
          <a:xfrm>
            <a:off x="15479942" y="6386318"/>
            <a:ext cx="602887" cy="565148"/>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500" u="none" cap="none" strike="noStrike">
                <a:solidFill>
                  <a:srgbClr val="23403D"/>
                </a:solidFill>
                <a:latin typeface="Arial"/>
                <a:ea typeface="Arial"/>
                <a:cs typeface="Arial"/>
                <a:sym typeface="Arial"/>
              </a:rPr>
              <a:t>07</a:t>
            </a:r>
            <a:endParaRPr/>
          </a:p>
        </p:txBody>
      </p:sp>
      <p:sp>
        <p:nvSpPr>
          <p:cNvPr id="155" name="Google Shape;155;p2"/>
          <p:cNvSpPr txBox="1"/>
          <p:nvPr/>
        </p:nvSpPr>
        <p:spPr>
          <a:xfrm>
            <a:off x="8927911" y="2642869"/>
            <a:ext cx="7154919" cy="72707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5000" u="none" cap="none" strike="noStrike">
                <a:solidFill>
                  <a:srgbClr val="FFFFFF"/>
                </a:solidFill>
                <a:latin typeface="Arial"/>
                <a:ea typeface="Arial"/>
                <a:cs typeface="Arial"/>
                <a:sym typeface="Arial"/>
              </a:rPr>
              <a:t>TABLE OF CONTENT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p:nvPr/>
        </p:nvSpPr>
        <p:spPr>
          <a:xfrm>
            <a:off x="0" y="0"/>
            <a:ext cx="9032511" cy="10201248"/>
          </a:xfrm>
          <a:custGeom>
            <a:rect b="b" l="l" r="r" t="t"/>
            <a:pathLst>
              <a:path extrusionOk="0" h="5094256" w="3254959">
                <a:moveTo>
                  <a:pt x="0" y="0"/>
                </a:moveTo>
                <a:lnTo>
                  <a:pt x="3254959" y="0"/>
                </a:lnTo>
                <a:lnTo>
                  <a:pt x="3254959" y="5094256"/>
                </a:lnTo>
                <a:lnTo>
                  <a:pt x="0" y="5094256"/>
                </a:lnTo>
                <a:close/>
              </a:path>
            </a:pathLst>
          </a:custGeom>
          <a:blipFill rotWithShape="1">
            <a:blip r:embed="rId3">
              <a:alphaModFix amt="88000"/>
            </a:blip>
            <a:stretch>
              <a:fillRect b="0" l="-2072" r="-2072" t="0"/>
            </a:stretch>
          </a:blipFill>
          <a:ln>
            <a:noFill/>
          </a:ln>
        </p:spPr>
      </p:sp>
      <p:sp>
        <p:nvSpPr>
          <p:cNvPr id="161" name="Google Shape;161;p3"/>
          <p:cNvSpPr/>
          <p:nvPr/>
        </p:nvSpPr>
        <p:spPr>
          <a:xfrm>
            <a:off x="11310602" y="2987731"/>
            <a:ext cx="825484" cy="853213"/>
          </a:xfrm>
          <a:custGeom>
            <a:rect b="b" l="l" r="r" t="t"/>
            <a:pathLst>
              <a:path extrusionOk="0" h="853213" w="825484">
                <a:moveTo>
                  <a:pt x="0" y="0"/>
                </a:moveTo>
                <a:lnTo>
                  <a:pt x="825484" y="0"/>
                </a:lnTo>
                <a:lnTo>
                  <a:pt x="825484" y="853213"/>
                </a:lnTo>
                <a:lnTo>
                  <a:pt x="0" y="853213"/>
                </a:lnTo>
                <a:lnTo>
                  <a:pt x="0" y="0"/>
                </a:lnTo>
                <a:close/>
              </a:path>
            </a:pathLst>
          </a:custGeom>
          <a:blipFill rotWithShape="1">
            <a:blip r:embed="rId4">
              <a:alphaModFix/>
            </a:blip>
            <a:stretch>
              <a:fillRect b="0" l="0" r="0" t="0"/>
            </a:stretch>
          </a:blipFill>
          <a:ln>
            <a:noFill/>
          </a:ln>
        </p:spPr>
      </p:sp>
      <p:sp>
        <p:nvSpPr>
          <p:cNvPr id="162" name="Google Shape;162;p3"/>
          <p:cNvSpPr/>
          <p:nvPr/>
        </p:nvSpPr>
        <p:spPr>
          <a:xfrm>
            <a:off x="11678875" y="6243075"/>
            <a:ext cx="754937" cy="671700"/>
          </a:xfrm>
          <a:custGeom>
            <a:rect b="b" l="l" r="r" t="t"/>
            <a:pathLst>
              <a:path extrusionOk="0" h="774294" w="754937">
                <a:moveTo>
                  <a:pt x="0" y="0"/>
                </a:moveTo>
                <a:lnTo>
                  <a:pt x="754937" y="0"/>
                </a:lnTo>
                <a:lnTo>
                  <a:pt x="754937" y="774294"/>
                </a:lnTo>
                <a:lnTo>
                  <a:pt x="0" y="774294"/>
                </a:lnTo>
                <a:lnTo>
                  <a:pt x="0" y="0"/>
                </a:lnTo>
                <a:close/>
              </a:path>
            </a:pathLst>
          </a:custGeom>
          <a:blipFill rotWithShape="1">
            <a:blip r:embed="rId5">
              <a:alphaModFix/>
            </a:blip>
            <a:stretch>
              <a:fillRect b="0" l="0" r="0" t="0"/>
            </a:stretch>
          </a:blipFill>
          <a:ln>
            <a:noFill/>
          </a:ln>
        </p:spPr>
      </p:sp>
      <p:sp>
        <p:nvSpPr>
          <p:cNvPr id="163" name="Google Shape;163;p3"/>
          <p:cNvSpPr txBox="1"/>
          <p:nvPr/>
        </p:nvSpPr>
        <p:spPr>
          <a:xfrm>
            <a:off x="8474469" y="85725"/>
            <a:ext cx="8287195" cy="499882"/>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1" i="0" lang="en-US" sz="3900" u="none" cap="none" strike="noStrike">
                <a:solidFill>
                  <a:srgbClr val="1D7363"/>
                </a:solidFill>
                <a:latin typeface="Arial"/>
                <a:ea typeface="Arial"/>
                <a:cs typeface="Arial"/>
                <a:sym typeface="Arial"/>
              </a:rPr>
              <a:t>The Global SuperStore Analysis</a:t>
            </a:r>
            <a:endParaRPr/>
          </a:p>
        </p:txBody>
      </p:sp>
      <p:sp>
        <p:nvSpPr>
          <p:cNvPr id="164" name="Google Shape;164;p3"/>
          <p:cNvSpPr txBox="1"/>
          <p:nvPr/>
        </p:nvSpPr>
        <p:spPr>
          <a:xfrm>
            <a:off x="8132461" y="721246"/>
            <a:ext cx="9813531" cy="1800374"/>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b="1" i="0" lang="en-US" sz="2556" u="none" cap="none" strike="noStrike">
                <a:solidFill>
                  <a:srgbClr val="000000"/>
                </a:solidFill>
                <a:latin typeface="Arial"/>
                <a:ea typeface="Arial"/>
                <a:cs typeface="Arial"/>
                <a:sym typeface="Arial"/>
              </a:rPr>
              <a:t>Global Superstore is a large multinational retail company that sells a wide range of products, including furniture, office supplies, and technology, to customers across different regions worldwide.</a:t>
            </a:r>
            <a:endParaRPr/>
          </a:p>
        </p:txBody>
      </p:sp>
      <p:sp>
        <p:nvSpPr>
          <p:cNvPr id="165" name="Google Shape;165;p3"/>
          <p:cNvSpPr txBox="1"/>
          <p:nvPr/>
        </p:nvSpPr>
        <p:spPr>
          <a:xfrm>
            <a:off x="9364000" y="3429000"/>
            <a:ext cx="9054900" cy="2580900"/>
          </a:xfrm>
          <a:prstGeom prst="rect">
            <a:avLst/>
          </a:prstGeom>
          <a:noFill/>
          <a:ln>
            <a:noFill/>
          </a:ln>
        </p:spPr>
        <p:txBody>
          <a:bodyPr anchorCtr="0" anchor="t" bIns="0" lIns="0" spcFirstLastPara="1" rIns="0" wrap="square" tIns="0">
            <a:spAutoFit/>
          </a:bodyPr>
          <a:lstStyle/>
          <a:p>
            <a:pPr indent="0" lvl="0" marL="0" marR="0" rtl="0" algn="ctr">
              <a:lnSpc>
                <a:spcPct val="140039"/>
              </a:lnSpc>
              <a:spcBef>
                <a:spcPts val="0"/>
              </a:spcBef>
              <a:spcAft>
                <a:spcPts val="0"/>
              </a:spcAft>
              <a:buNone/>
            </a:pPr>
            <a:r>
              <a:rPr b="1" i="0" lang="en-US" sz="2540" u="none" cap="none" strike="noStrike">
                <a:solidFill>
                  <a:srgbClr val="3B5D5A"/>
                </a:solidFill>
                <a:latin typeface="Arial"/>
                <a:ea typeface="Arial"/>
                <a:cs typeface="Arial"/>
                <a:sym typeface="Arial"/>
              </a:rPr>
              <a:t>BUSINESS PROBLEM</a:t>
            </a:r>
            <a:endParaRPr/>
          </a:p>
          <a:p>
            <a:pPr indent="0" lvl="0" marL="0" marR="0" rtl="0" algn="ctr">
              <a:lnSpc>
                <a:spcPct val="140039"/>
              </a:lnSpc>
              <a:spcBef>
                <a:spcPts val="0"/>
              </a:spcBef>
              <a:spcAft>
                <a:spcPts val="0"/>
              </a:spcAft>
              <a:buNone/>
            </a:pPr>
            <a:r>
              <a:rPr b="1" i="0" lang="en-US" sz="2540" u="none" cap="none" strike="noStrike">
                <a:solidFill>
                  <a:srgbClr val="000000"/>
                </a:solidFill>
                <a:latin typeface="Arial"/>
                <a:ea typeface="Arial"/>
                <a:cs typeface="Arial"/>
                <a:sym typeface="Arial"/>
              </a:rPr>
              <a:t> The dataset contains valuable information, but without proper analysis, it’s difficult to identify key performance drivers and opportunities for growth.</a:t>
            </a:r>
            <a:endParaRPr/>
          </a:p>
          <a:p>
            <a:pPr indent="0" lvl="0" marL="0" marR="0" rtl="0" algn="ctr">
              <a:lnSpc>
                <a:spcPct val="173661"/>
              </a:lnSpc>
              <a:spcBef>
                <a:spcPts val="0"/>
              </a:spcBef>
              <a:spcAft>
                <a:spcPts val="0"/>
              </a:spcAft>
              <a:buNone/>
            </a:pPr>
            <a:r>
              <a:t/>
            </a:r>
            <a:endParaRPr b="1" i="0" sz="2540" u="none" cap="none" strike="noStrike">
              <a:solidFill>
                <a:srgbClr val="000000"/>
              </a:solidFill>
              <a:latin typeface="Arial"/>
              <a:ea typeface="Arial"/>
              <a:cs typeface="Arial"/>
              <a:sym typeface="Arial"/>
            </a:endParaRPr>
          </a:p>
        </p:txBody>
      </p:sp>
      <p:sp>
        <p:nvSpPr>
          <p:cNvPr id="166" name="Google Shape;166;p3"/>
          <p:cNvSpPr txBox="1"/>
          <p:nvPr/>
        </p:nvSpPr>
        <p:spPr>
          <a:xfrm>
            <a:off x="9516000" y="6377650"/>
            <a:ext cx="8430000" cy="363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00" u="none" cap="none" strike="noStrike">
                <a:solidFill>
                  <a:srgbClr val="3B5D5A"/>
                </a:solidFill>
                <a:latin typeface="Arial"/>
                <a:ea typeface="Arial"/>
                <a:cs typeface="Arial"/>
                <a:sym typeface="Arial"/>
              </a:rPr>
              <a:t>OBJECTIVES</a:t>
            </a:r>
            <a:endParaRPr/>
          </a:p>
          <a:p>
            <a:pPr indent="0" lvl="0" marL="0" marR="0" rtl="0" algn="l">
              <a:lnSpc>
                <a:spcPct val="140000"/>
              </a:lnSpc>
              <a:spcBef>
                <a:spcPts val="0"/>
              </a:spcBef>
              <a:spcAft>
                <a:spcPts val="0"/>
              </a:spcAft>
              <a:buNone/>
            </a:pPr>
            <a:r>
              <a:rPr b="1" lang="en-US" sz="2600"/>
              <a:t># </a:t>
            </a:r>
            <a:r>
              <a:rPr b="1" i="0" lang="en-US" sz="2500" u="none" cap="none" strike="noStrike">
                <a:solidFill>
                  <a:srgbClr val="000000"/>
                </a:solidFill>
                <a:latin typeface="Arial"/>
                <a:ea typeface="Arial"/>
                <a:cs typeface="Arial"/>
                <a:sym typeface="Arial"/>
              </a:rPr>
              <a:t>Identify top and low-performing regions, products, and segments</a:t>
            </a:r>
            <a:endParaRPr sz="1300"/>
          </a:p>
          <a:p>
            <a:pPr indent="0" lvl="0" marL="0" marR="0" rtl="0" algn="l">
              <a:lnSpc>
                <a:spcPct val="140000"/>
              </a:lnSpc>
              <a:spcBef>
                <a:spcPts val="0"/>
              </a:spcBef>
              <a:spcAft>
                <a:spcPts val="0"/>
              </a:spcAft>
              <a:buNone/>
            </a:pPr>
            <a:r>
              <a:rPr b="1" lang="en-US" sz="2500"/>
              <a:t># </a:t>
            </a:r>
            <a:r>
              <a:rPr b="1" i="0" lang="en-US" sz="2500" u="none" cap="none" strike="noStrike">
                <a:solidFill>
                  <a:srgbClr val="000000"/>
                </a:solidFill>
                <a:latin typeface="Arial"/>
                <a:ea typeface="Arial"/>
                <a:cs typeface="Arial"/>
                <a:sym typeface="Arial"/>
              </a:rPr>
              <a:t>Measure the impact of discounts and shipping modes</a:t>
            </a:r>
            <a:endParaRPr sz="1300"/>
          </a:p>
          <a:p>
            <a:pPr indent="0" lvl="0" marL="0" marR="0" rtl="0" algn="l">
              <a:lnSpc>
                <a:spcPct val="140000"/>
              </a:lnSpc>
              <a:spcBef>
                <a:spcPts val="0"/>
              </a:spcBef>
              <a:spcAft>
                <a:spcPts val="0"/>
              </a:spcAft>
              <a:buNone/>
            </a:pPr>
            <a:r>
              <a:rPr b="1" lang="en-US" sz="2500"/>
              <a:t># </a:t>
            </a:r>
            <a:r>
              <a:rPr b="1" i="0" lang="en-US" sz="2500" u="none" cap="none" strike="noStrike">
                <a:solidFill>
                  <a:srgbClr val="000000"/>
                </a:solidFill>
                <a:latin typeface="Arial"/>
                <a:ea typeface="Arial"/>
                <a:cs typeface="Arial"/>
                <a:sym typeface="Arial"/>
              </a:rPr>
              <a:t>Detect seasonal trends in sales and profitability</a:t>
            </a:r>
            <a:endParaRPr sz="1300"/>
          </a:p>
          <a:p>
            <a:pPr indent="0" lvl="0" marL="914400" marR="0" rtl="0" algn="ctr">
              <a:lnSpc>
                <a:spcPct val="140000"/>
              </a:lnSpc>
              <a:spcBef>
                <a:spcPts val="0"/>
              </a:spcBef>
              <a:spcAft>
                <a:spcPts val="0"/>
              </a:spcAft>
              <a:buNone/>
            </a:pPr>
            <a:r>
              <a:rPr b="1" i="0" lang="en-US" sz="2500" u="none" cap="none" strike="noStrike">
                <a:solidFill>
                  <a:srgbClr val="000000"/>
                </a:solidFill>
                <a:latin typeface="Arial"/>
                <a:ea typeface="Arial"/>
                <a:cs typeface="Arial"/>
                <a:sym typeface="Arial"/>
              </a:rPr>
              <a:t>Provide clear, actionable recommendations</a:t>
            </a:r>
            <a:endParaRPr sz="1300"/>
          </a:p>
          <a:p>
            <a:pPr indent="0" lvl="0" marL="0" marR="0" rtl="0" algn="ctr">
              <a:lnSpc>
                <a:spcPct val="166923"/>
              </a:lnSpc>
              <a:spcBef>
                <a:spcPts val="0"/>
              </a:spcBef>
              <a:spcAft>
                <a:spcPts val="0"/>
              </a:spcAft>
              <a:buNone/>
            </a:pPr>
            <a:r>
              <a:t/>
            </a:r>
            <a:endParaRPr b="1" i="0" sz="25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86" r="-12886" t="0"/>
            </a:stretch>
          </a:blipFill>
          <a:ln>
            <a:noFill/>
          </a:ln>
        </p:spPr>
      </p:sp>
      <p:grpSp>
        <p:nvGrpSpPr>
          <p:cNvPr id="172" name="Google Shape;172;p4"/>
          <p:cNvGrpSpPr/>
          <p:nvPr/>
        </p:nvGrpSpPr>
        <p:grpSpPr>
          <a:xfrm>
            <a:off x="256382" y="3955977"/>
            <a:ext cx="5798109" cy="1957001"/>
            <a:chOff x="0" y="-47625"/>
            <a:chExt cx="2122733" cy="716473"/>
          </a:xfrm>
        </p:grpSpPr>
        <p:sp>
          <p:nvSpPr>
            <p:cNvPr id="173" name="Google Shape;173;p4"/>
            <p:cNvSpPr/>
            <p:nvPr/>
          </p:nvSpPr>
          <p:spPr>
            <a:xfrm>
              <a:off x="0" y="0"/>
              <a:ext cx="2122733" cy="668848"/>
            </a:xfrm>
            <a:custGeom>
              <a:rect b="b" l="l" r="r" t="t"/>
              <a:pathLst>
                <a:path extrusionOk="0" h="668848" w="2122733">
                  <a:moveTo>
                    <a:pt x="0" y="0"/>
                  </a:moveTo>
                  <a:lnTo>
                    <a:pt x="2122733" y="0"/>
                  </a:lnTo>
                  <a:lnTo>
                    <a:pt x="2122733" y="668848"/>
                  </a:lnTo>
                  <a:lnTo>
                    <a:pt x="0" y="668848"/>
                  </a:lnTo>
                  <a:close/>
                </a:path>
              </a:pathLst>
            </a:custGeom>
            <a:solidFill>
              <a:srgbClr val="93B1B2"/>
            </a:solidFill>
            <a:ln>
              <a:noFill/>
            </a:ln>
          </p:spPr>
        </p:sp>
        <p:sp>
          <p:nvSpPr>
            <p:cNvPr id="174" name="Google Shape;174;p4"/>
            <p:cNvSpPr txBox="1"/>
            <p:nvPr/>
          </p:nvSpPr>
          <p:spPr>
            <a:xfrm>
              <a:off x="0" y="-47625"/>
              <a:ext cx="2122733" cy="7164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5" name="Google Shape;175;p4"/>
          <p:cNvGrpSpPr/>
          <p:nvPr/>
        </p:nvGrpSpPr>
        <p:grpSpPr>
          <a:xfrm>
            <a:off x="6544443" y="3955977"/>
            <a:ext cx="5199115" cy="1957001"/>
            <a:chOff x="0" y="-47625"/>
            <a:chExt cx="1903437" cy="716473"/>
          </a:xfrm>
        </p:grpSpPr>
        <p:sp>
          <p:nvSpPr>
            <p:cNvPr id="176" name="Google Shape;176;p4"/>
            <p:cNvSpPr/>
            <p:nvPr/>
          </p:nvSpPr>
          <p:spPr>
            <a:xfrm>
              <a:off x="0" y="0"/>
              <a:ext cx="1903437" cy="668848"/>
            </a:xfrm>
            <a:custGeom>
              <a:rect b="b" l="l" r="r" t="t"/>
              <a:pathLst>
                <a:path extrusionOk="0" h="668848" w="1903437">
                  <a:moveTo>
                    <a:pt x="0" y="0"/>
                  </a:moveTo>
                  <a:lnTo>
                    <a:pt x="1903437" y="0"/>
                  </a:lnTo>
                  <a:lnTo>
                    <a:pt x="1903437" y="668848"/>
                  </a:lnTo>
                  <a:lnTo>
                    <a:pt x="0" y="668848"/>
                  </a:lnTo>
                  <a:close/>
                </a:path>
              </a:pathLst>
            </a:custGeom>
            <a:solidFill>
              <a:srgbClr val="9AC4AB"/>
            </a:solidFill>
            <a:ln>
              <a:noFill/>
            </a:ln>
          </p:spPr>
        </p:sp>
        <p:sp>
          <p:nvSpPr>
            <p:cNvPr id="177" name="Google Shape;177;p4"/>
            <p:cNvSpPr txBox="1"/>
            <p:nvPr/>
          </p:nvSpPr>
          <p:spPr>
            <a:xfrm>
              <a:off x="0" y="-47625"/>
              <a:ext cx="1903437" cy="7164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8" name="Google Shape;178;p4"/>
          <p:cNvGrpSpPr/>
          <p:nvPr/>
        </p:nvGrpSpPr>
        <p:grpSpPr>
          <a:xfrm>
            <a:off x="1208582" y="7243297"/>
            <a:ext cx="4845910" cy="1957001"/>
            <a:chOff x="0" y="-47625"/>
            <a:chExt cx="1774126" cy="716473"/>
          </a:xfrm>
        </p:grpSpPr>
        <p:sp>
          <p:nvSpPr>
            <p:cNvPr id="179" name="Google Shape;179;p4"/>
            <p:cNvSpPr/>
            <p:nvPr/>
          </p:nvSpPr>
          <p:spPr>
            <a:xfrm>
              <a:off x="0" y="0"/>
              <a:ext cx="1774126" cy="668848"/>
            </a:xfrm>
            <a:custGeom>
              <a:rect b="b" l="l" r="r" t="t"/>
              <a:pathLst>
                <a:path extrusionOk="0" h="668848" w="1774126">
                  <a:moveTo>
                    <a:pt x="0" y="0"/>
                  </a:moveTo>
                  <a:lnTo>
                    <a:pt x="1774126" y="0"/>
                  </a:lnTo>
                  <a:lnTo>
                    <a:pt x="1774126" y="668848"/>
                  </a:lnTo>
                  <a:lnTo>
                    <a:pt x="0" y="668848"/>
                  </a:lnTo>
                  <a:close/>
                </a:path>
              </a:pathLst>
            </a:custGeom>
            <a:solidFill>
              <a:srgbClr val="4E7C7D"/>
            </a:solidFill>
            <a:ln>
              <a:noFill/>
            </a:ln>
          </p:spPr>
        </p:sp>
        <p:sp>
          <p:nvSpPr>
            <p:cNvPr id="180" name="Google Shape;180;p4"/>
            <p:cNvSpPr txBox="1"/>
            <p:nvPr/>
          </p:nvSpPr>
          <p:spPr>
            <a:xfrm>
              <a:off x="0" y="-47625"/>
              <a:ext cx="1774126" cy="7164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1" name="Google Shape;181;p4"/>
          <p:cNvGrpSpPr/>
          <p:nvPr/>
        </p:nvGrpSpPr>
        <p:grpSpPr>
          <a:xfrm>
            <a:off x="6831421" y="7243297"/>
            <a:ext cx="4625157" cy="1957001"/>
            <a:chOff x="0" y="-47625"/>
            <a:chExt cx="1693306" cy="716473"/>
          </a:xfrm>
        </p:grpSpPr>
        <p:sp>
          <p:nvSpPr>
            <p:cNvPr id="182" name="Google Shape;182;p4"/>
            <p:cNvSpPr/>
            <p:nvPr/>
          </p:nvSpPr>
          <p:spPr>
            <a:xfrm>
              <a:off x="0" y="0"/>
              <a:ext cx="1693306" cy="668848"/>
            </a:xfrm>
            <a:custGeom>
              <a:rect b="b" l="l" r="r" t="t"/>
              <a:pathLst>
                <a:path extrusionOk="0" h="668848" w="1693306">
                  <a:moveTo>
                    <a:pt x="0" y="0"/>
                  </a:moveTo>
                  <a:lnTo>
                    <a:pt x="1693306" y="0"/>
                  </a:lnTo>
                  <a:lnTo>
                    <a:pt x="1693306" y="668848"/>
                  </a:lnTo>
                  <a:lnTo>
                    <a:pt x="0" y="668848"/>
                  </a:lnTo>
                  <a:close/>
                </a:path>
              </a:pathLst>
            </a:custGeom>
            <a:solidFill>
              <a:srgbClr val="3B5D5A"/>
            </a:solidFill>
            <a:ln>
              <a:noFill/>
            </a:ln>
          </p:spPr>
        </p:sp>
        <p:sp>
          <p:nvSpPr>
            <p:cNvPr id="183" name="Google Shape;183;p4"/>
            <p:cNvSpPr txBox="1"/>
            <p:nvPr/>
          </p:nvSpPr>
          <p:spPr>
            <a:xfrm>
              <a:off x="0" y="-47625"/>
              <a:ext cx="1693306" cy="7164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4" name="Google Shape;184;p4"/>
          <p:cNvGrpSpPr/>
          <p:nvPr/>
        </p:nvGrpSpPr>
        <p:grpSpPr>
          <a:xfrm>
            <a:off x="528425" y="3456137"/>
            <a:ext cx="5294055" cy="2058360"/>
            <a:chOff x="0" y="-47625"/>
            <a:chExt cx="1938195" cy="753582"/>
          </a:xfrm>
        </p:grpSpPr>
        <p:sp>
          <p:nvSpPr>
            <p:cNvPr id="185" name="Google Shape;185;p4"/>
            <p:cNvSpPr/>
            <p:nvPr/>
          </p:nvSpPr>
          <p:spPr>
            <a:xfrm>
              <a:off x="0" y="0"/>
              <a:ext cx="1938195" cy="705957"/>
            </a:xfrm>
            <a:custGeom>
              <a:rect b="b" l="l" r="r" t="t"/>
              <a:pathLst>
                <a:path extrusionOk="0" h="705957" w="1938195">
                  <a:moveTo>
                    <a:pt x="0" y="0"/>
                  </a:moveTo>
                  <a:lnTo>
                    <a:pt x="1938195" y="0"/>
                  </a:lnTo>
                  <a:lnTo>
                    <a:pt x="1938195" y="705957"/>
                  </a:lnTo>
                  <a:lnTo>
                    <a:pt x="0" y="705957"/>
                  </a:lnTo>
                  <a:close/>
                </a:path>
              </a:pathLst>
            </a:custGeom>
            <a:solidFill>
              <a:srgbClr val="FFFFFF"/>
            </a:solidFill>
            <a:ln>
              <a:noFill/>
            </a:ln>
          </p:spPr>
        </p:sp>
        <p:sp>
          <p:nvSpPr>
            <p:cNvPr id="186" name="Google Shape;186;p4"/>
            <p:cNvSpPr txBox="1"/>
            <p:nvPr/>
          </p:nvSpPr>
          <p:spPr>
            <a:xfrm>
              <a:off x="0" y="-47625"/>
              <a:ext cx="1938195" cy="75358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 name="Google Shape;187;p4"/>
          <p:cNvGrpSpPr/>
          <p:nvPr/>
        </p:nvGrpSpPr>
        <p:grpSpPr>
          <a:xfrm>
            <a:off x="6698970" y="3456137"/>
            <a:ext cx="4823835" cy="2128608"/>
            <a:chOff x="0" y="-47625"/>
            <a:chExt cx="1766044" cy="779300"/>
          </a:xfrm>
        </p:grpSpPr>
        <p:sp>
          <p:nvSpPr>
            <p:cNvPr id="188" name="Google Shape;188;p4"/>
            <p:cNvSpPr/>
            <p:nvPr/>
          </p:nvSpPr>
          <p:spPr>
            <a:xfrm>
              <a:off x="0" y="0"/>
              <a:ext cx="1766044" cy="731675"/>
            </a:xfrm>
            <a:custGeom>
              <a:rect b="b" l="l" r="r" t="t"/>
              <a:pathLst>
                <a:path extrusionOk="0" h="731675" w="1766044">
                  <a:moveTo>
                    <a:pt x="0" y="0"/>
                  </a:moveTo>
                  <a:lnTo>
                    <a:pt x="1766044" y="0"/>
                  </a:lnTo>
                  <a:lnTo>
                    <a:pt x="1766044" y="731675"/>
                  </a:lnTo>
                  <a:lnTo>
                    <a:pt x="0" y="731675"/>
                  </a:lnTo>
                  <a:close/>
                </a:path>
              </a:pathLst>
            </a:custGeom>
            <a:solidFill>
              <a:srgbClr val="FFFFFF"/>
            </a:solidFill>
            <a:ln>
              <a:noFill/>
            </a:ln>
          </p:spPr>
        </p:sp>
        <p:sp>
          <p:nvSpPr>
            <p:cNvPr id="189" name="Google Shape;189;p4"/>
            <p:cNvSpPr txBox="1"/>
            <p:nvPr/>
          </p:nvSpPr>
          <p:spPr>
            <a:xfrm>
              <a:off x="0" y="-47625"/>
              <a:ext cx="1766044" cy="779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0" name="Google Shape;190;p4"/>
          <p:cNvGrpSpPr/>
          <p:nvPr/>
        </p:nvGrpSpPr>
        <p:grpSpPr>
          <a:xfrm>
            <a:off x="1692899" y="6960652"/>
            <a:ext cx="4098029" cy="1911413"/>
            <a:chOff x="0" y="-47625"/>
            <a:chExt cx="1500320" cy="699783"/>
          </a:xfrm>
        </p:grpSpPr>
        <p:sp>
          <p:nvSpPr>
            <p:cNvPr id="191" name="Google Shape;191;p4"/>
            <p:cNvSpPr/>
            <p:nvPr/>
          </p:nvSpPr>
          <p:spPr>
            <a:xfrm>
              <a:off x="0" y="0"/>
              <a:ext cx="1500320" cy="652158"/>
            </a:xfrm>
            <a:custGeom>
              <a:rect b="b" l="l" r="r" t="t"/>
              <a:pathLst>
                <a:path extrusionOk="0" h="652158" w="1500320">
                  <a:moveTo>
                    <a:pt x="0" y="0"/>
                  </a:moveTo>
                  <a:lnTo>
                    <a:pt x="1500320" y="0"/>
                  </a:lnTo>
                  <a:lnTo>
                    <a:pt x="1500320" y="652158"/>
                  </a:lnTo>
                  <a:lnTo>
                    <a:pt x="0" y="652158"/>
                  </a:lnTo>
                  <a:close/>
                </a:path>
              </a:pathLst>
            </a:custGeom>
            <a:solidFill>
              <a:srgbClr val="FFFFFF"/>
            </a:solidFill>
            <a:ln>
              <a:noFill/>
            </a:ln>
          </p:spPr>
        </p:sp>
        <p:sp>
          <p:nvSpPr>
            <p:cNvPr id="192" name="Google Shape;192;p4"/>
            <p:cNvSpPr txBox="1"/>
            <p:nvPr/>
          </p:nvSpPr>
          <p:spPr>
            <a:xfrm>
              <a:off x="0" y="-47625"/>
              <a:ext cx="1500320" cy="69978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3" name="Google Shape;193;p4"/>
          <p:cNvGrpSpPr/>
          <p:nvPr/>
        </p:nvGrpSpPr>
        <p:grpSpPr>
          <a:xfrm>
            <a:off x="7094986" y="6960652"/>
            <a:ext cx="4098029" cy="1911413"/>
            <a:chOff x="0" y="-47625"/>
            <a:chExt cx="1500320" cy="699783"/>
          </a:xfrm>
        </p:grpSpPr>
        <p:sp>
          <p:nvSpPr>
            <p:cNvPr id="194" name="Google Shape;194;p4"/>
            <p:cNvSpPr/>
            <p:nvPr/>
          </p:nvSpPr>
          <p:spPr>
            <a:xfrm>
              <a:off x="0" y="0"/>
              <a:ext cx="1500320" cy="652158"/>
            </a:xfrm>
            <a:custGeom>
              <a:rect b="b" l="l" r="r" t="t"/>
              <a:pathLst>
                <a:path extrusionOk="0" h="652158" w="1500320">
                  <a:moveTo>
                    <a:pt x="0" y="0"/>
                  </a:moveTo>
                  <a:lnTo>
                    <a:pt x="1500320" y="0"/>
                  </a:lnTo>
                  <a:lnTo>
                    <a:pt x="1500320" y="652158"/>
                  </a:lnTo>
                  <a:lnTo>
                    <a:pt x="0" y="652158"/>
                  </a:lnTo>
                  <a:close/>
                </a:path>
              </a:pathLst>
            </a:custGeom>
            <a:solidFill>
              <a:srgbClr val="FFFFFF"/>
            </a:solidFill>
            <a:ln>
              <a:noFill/>
            </a:ln>
          </p:spPr>
        </p:sp>
        <p:sp>
          <p:nvSpPr>
            <p:cNvPr id="195" name="Google Shape;195;p4"/>
            <p:cNvSpPr txBox="1"/>
            <p:nvPr/>
          </p:nvSpPr>
          <p:spPr>
            <a:xfrm>
              <a:off x="0" y="-47625"/>
              <a:ext cx="1500320" cy="69978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4"/>
          <p:cNvGrpSpPr/>
          <p:nvPr/>
        </p:nvGrpSpPr>
        <p:grpSpPr>
          <a:xfrm>
            <a:off x="3135289" y="5864900"/>
            <a:ext cx="1213249" cy="494030"/>
            <a:chOff x="0" y="-25829"/>
            <a:chExt cx="812800" cy="330969"/>
          </a:xfrm>
        </p:grpSpPr>
        <p:sp>
          <p:nvSpPr>
            <p:cNvPr id="197" name="Google Shape;197;p4"/>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93B1B2"/>
            </a:solidFill>
            <a:ln>
              <a:noFill/>
            </a:ln>
          </p:spPr>
        </p:sp>
        <p:sp>
          <p:nvSpPr>
            <p:cNvPr id="198" name="Google Shape;198;p4"/>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4"/>
          <p:cNvGrpSpPr/>
          <p:nvPr/>
        </p:nvGrpSpPr>
        <p:grpSpPr>
          <a:xfrm>
            <a:off x="8537376" y="5864900"/>
            <a:ext cx="1213249" cy="494030"/>
            <a:chOff x="0" y="-25829"/>
            <a:chExt cx="812800" cy="330969"/>
          </a:xfrm>
        </p:grpSpPr>
        <p:sp>
          <p:nvSpPr>
            <p:cNvPr id="200" name="Google Shape;200;p4"/>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9AC4AB"/>
            </a:solidFill>
            <a:ln>
              <a:noFill/>
            </a:ln>
          </p:spPr>
        </p:sp>
        <p:sp>
          <p:nvSpPr>
            <p:cNvPr id="201" name="Google Shape;201;p4"/>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4"/>
          <p:cNvGrpSpPr/>
          <p:nvPr/>
        </p:nvGrpSpPr>
        <p:grpSpPr>
          <a:xfrm>
            <a:off x="3135289" y="9152220"/>
            <a:ext cx="1213249" cy="494030"/>
            <a:chOff x="0" y="-25829"/>
            <a:chExt cx="812800" cy="330969"/>
          </a:xfrm>
        </p:grpSpPr>
        <p:sp>
          <p:nvSpPr>
            <p:cNvPr id="203" name="Google Shape;203;p4"/>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4E7C7D"/>
            </a:solidFill>
            <a:ln>
              <a:noFill/>
            </a:ln>
          </p:spPr>
        </p:sp>
        <p:sp>
          <p:nvSpPr>
            <p:cNvPr id="204" name="Google Shape;204;p4"/>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4"/>
          <p:cNvGrpSpPr/>
          <p:nvPr/>
        </p:nvGrpSpPr>
        <p:grpSpPr>
          <a:xfrm>
            <a:off x="8537376" y="9152220"/>
            <a:ext cx="1213249" cy="494030"/>
            <a:chOff x="0" y="-25829"/>
            <a:chExt cx="812800" cy="330969"/>
          </a:xfrm>
        </p:grpSpPr>
        <p:sp>
          <p:nvSpPr>
            <p:cNvPr id="206" name="Google Shape;206;p4"/>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3B5D5A"/>
            </a:solidFill>
            <a:ln>
              <a:noFill/>
            </a:ln>
          </p:spPr>
        </p:sp>
        <p:sp>
          <p:nvSpPr>
            <p:cNvPr id="207" name="Google Shape;207;p4"/>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4"/>
          <p:cNvSpPr txBox="1"/>
          <p:nvPr/>
        </p:nvSpPr>
        <p:spPr>
          <a:xfrm>
            <a:off x="2316341" y="908429"/>
            <a:ext cx="12954834" cy="63944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700" u="none" cap="none" strike="noStrike">
                <a:solidFill>
                  <a:srgbClr val="4E7C7D"/>
                </a:solidFill>
                <a:latin typeface="Arial"/>
                <a:ea typeface="Arial"/>
                <a:cs typeface="Arial"/>
                <a:sym typeface="Arial"/>
              </a:rPr>
              <a:t>TOP 6 GLOBAL SUPERSTORE BUSINESS QUESTIONS</a:t>
            </a:r>
            <a:r>
              <a:rPr b="1" i="0" lang="en-US" sz="3700" u="none" cap="none" strike="noStrike">
                <a:solidFill>
                  <a:srgbClr val="9AC4AB"/>
                </a:solidFill>
                <a:latin typeface="Arial"/>
                <a:ea typeface="Arial"/>
                <a:cs typeface="Arial"/>
                <a:sym typeface="Arial"/>
              </a:rPr>
              <a:t> </a:t>
            </a:r>
            <a:endParaRPr/>
          </a:p>
        </p:txBody>
      </p:sp>
      <p:grpSp>
        <p:nvGrpSpPr>
          <p:cNvPr id="209" name="Google Shape;209;p4"/>
          <p:cNvGrpSpPr/>
          <p:nvPr/>
        </p:nvGrpSpPr>
        <p:grpSpPr>
          <a:xfrm>
            <a:off x="12101056" y="3955977"/>
            <a:ext cx="5158244" cy="1957001"/>
            <a:chOff x="0" y="-47625"/>
            <a:chExt cx="1888473" cy="716473"/>
          </a:xfrm>
        </p:grpSpPr>
        <p:sp>
          <p:nvSpPr>
            <p:cNvPr id="210" name="Google Shape;210;p4"/>
            <p:cNvSpPr/>
            <p:nvPr/>
          </p:nvSpPr>
          <p:spPr>
            <a:xfrm>
              <a:off x="0" y="0"/>
              <a:ext cx="1888473" cy="668848"/>
            </a:xfrm>
            <a:custGeom>
              <a:rect b="b" l="l" r="r" t="t"/>
              <a:pathLst>
                <a:path extrusionOk="0" h="668848" w="1888473">
                  <a:moveTo>
                    <a:pt x="0" y="0"/>
                  </a:moveTo>
                  <a:lnTo>
                    <a:pt x="1888473" y="0"/>
                  </a:lnTo>
                  <a:lnTo>
                    <a:pt x="1888473" y="668848"/>
                  </a:lnTo>
                  <a:lnTo>
                    <a:pt x="0" y="668848"/>
                  </a:lnTo>
                  <a:close/>
                </a:path>
              </a:pathLst>
            </a:custGeom>
            <a:solidFill>
              <a:srgbClr val="5F8883"/>
            </a:solidFill>
            <a:ln>
              <a:noFill/>
            </a:ln>
          </p:spPr>
        </p:sp>
        <p:sp>
          <p:nvSpPr>
            <p:cNvPr id="211" name="Google Shape;211;p4"/>
            <p:cNvSpPr txBox="1"/>
            <p:nvPr/>
          </p:nvSpPr>
          <p:spPr>
            <a:xfrm>
              <a:off x="0" y="-47625"/>
              <a:ext cx="1888473" cy="7164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4"/>
          <p:cNvGrpSpPr/>
          <p:nvPr/>
        </p:nvGrpSpPr>
        <p:grpSpPr>
          <a:xfrm>
            <a:off x="12233508" y="7243297"/>
            <a:ext cx="4625157" cy="1957001"/>
            <a:chOff x="0" y="-47625"/>
            <a:chExt cx="1693306" cy="716473"/>
          </a:xfrm>
        </p:grpSpPr>
        <p:sp>
          <p:nvSpPr>
            <p:cNvPr id="213" name="Google Shape;213;p4"/>
            <p:cNvSpPr/>
            <p:nvPr/>
          </p:nvSpPr>
          <p:spPr>
            <a:xfrm>
              <a:off x="0" y="0"/>
              <a:ext cx="1693306" cy="668848"/>
            </a:xfrm>
            <a:custGeom>
              <a:rect b="b" l="l" r="r" t="t"/>
              <a:pathLst>
                <a:path extrusionOk="0" h="668848" w="1693306">
                  <a:moveTo>
                    <a:pt x="0" y="0"/>
                  </a:moveTo>
                  <a:lnTo>
                    <a:pt x="1693306" y="0"/>
                  </a:lnTo>
                  <a:lnTo>
                    <a:pt x="1693306" y="668848"/>
                  </a:lnTo>
                  <a:lnTo>
                    <a:pt x="0" y="668848"/>
                  </a:lnTo>
                  <a:close/>
                </a:path>
              </a:pathLst>
            </a:custGeom>
            <a:solidFill>
              <a:srgbClr val="212D37"/>
            </a:solidFill>
            <a:ln>
              <a:noFill/>
            </a:ln>
          </p:spPr>
        </p:sp>
        <p:sp>
          <p:nvSpPr>
            <p:cNvPr id="214" name="Google Shape;214;p4"/>
            <p:cNvSpPr txBox="1"/>
            <p:nvPr/>
          </p:nvSpPr>
          <p:spPr>
            <a:xfrm>
              <a:off x="0" y="-47625"/>
              <a:ext cx="1693306" cy="7164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4"/>
          <p:cNvGrpSpPr/>
          <p:nvPr/>
        </p:nvGrpSpPr>
        <p:grpSpPr>
          <a:xfrm>
            <a:off x="12391257" y="3456137"/>
            <a:ext cx="4645350" cy="2128608"/>
            <a:chOff x="0" y="-47625"/>
            <a:chExt cx="1700699" cy="779300"/>
          </a:xfrm>
        </p:grpSpPr>
        <p:sp>
          <p:nvSpPr>
            <p:cNvPr id="216" name="Google Shape;216;p4"/>
            <p:cNvSpPr/>
            <p:nvPr/>
          </p:nvSpPr>
          <p:spPr>
            <a:xfrm>
              <a:off x="0" y="0"/>
              <a:ext cx="1700699" cy="731675"/>
            </a:xfrm>
            <a:custGeom>
              <a:rect b="b" l="l" r="r" t="t"/>
              <a:pathLst>
                <a:path extrusionOk="0" h="731675" w="1700699">
                  <a:moveTo>
                    <a:pt x="0" y="0"/>
                  </a:moveTo>
                  <a:lnTo>
                    <a:pt x="1700699" y="0"/>
                  </a:lnTo>
                  <a:lnTo>
                    <a:pt x="1700699" y="731675"/>
                  </a:lnTo>
                  <a:lnTo>
                    <a:pt x="0" y="731675"/>
                  </a:lnTo>
                  <a:close/>
                </a:path>
              </a:pathLst>
            </a:custGeom>
            <a:solidFill>
              <a:srgbClr val="FFFFFF"/>
            </a:solidFill>
            <a:ln>
              <a:noFill/>
            </a:ln>
          </p:spPr>
        </p:sp>
        <p:sp>
          <p:nvSpPr>
            <p:cNvPr id="217" name="Google Shape;217;p4"/>
            <p:cNvSpPr txBox="1"/>
            <p:nvPr/>
          </p:nvSpPr>
          <p:spPr>
            <a:xfrm>
              <a:off x="0" y="-47625"/>
              <a:ext cx="1700699" cy="7793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4"/>
          <p:cNvGrpSpPr/>
          <p:nvPr/>
        </p:nvGrpSpPr>
        <p:grpSpPr>
          <a:xfrm>
            <a:off x="12497072" y="6960652"/>
            <a:ext cx="4098029" cy="1911413"/>
            <a:chOff x="0" y="-47625"/>
            <a:chExt cx="1500320" cy="699783"/>
          </a:xfrm>
        </p:grpSpPr>
        <p:sp>
          <p:nvSpPr>
            <p:cNvPr id="219" name="Google Shape;219;p4"/>
            <p:cNvSpPr/>
            <p:nvPr/>
          </p:nvSpPr>
          <p:spPr>
            <a:xfrm>
              <a:off x="0" y="0"/>
              <a:ext cx="1500320" cy="652158"/>
            </a:xfrm>
            <a:custGeom>
              <a:rect b="b" l="l" r="r" t="t"/>
              <a:pathLst>
                <a:path extrusionOk="0" h="652158" w="1500320">
                  <a:moveTo>
                    <a:pt x="0" y="0"/>
                  </a:moveTo>
                  <a:lnTo>
                    <a:pt x="1500320" y="0"/>
                  </a:lnTo>
                  <a:lnTo>
                    <a:pt x="1500320" y="652158"/>
                  </a:lnTo>
                  <a:lnTo>
                    <a:pt x="0" y="652158"/>
                  </a:lnTo>
                  <a:close/>
                </a:path>
              </a:pathLst>
            </a:custGeom>
            <a:solidFill>
              <a:srgbClr val="FFFFFF"/>
            </a:solidFill>
            <a:ln>
              <a:noFill/>
            </a:ln>
          </p:spPr>
        </p:sp>
        <p:sp>
          <p:nvSpPr>
            <p:cNvPr id="220" name="Google Shape;220;p4"/>
            <p:cNvSpPr txBox="1"/>
            <p:nvPr/>
          </p:nvSpPr>
          <p:spPr>
            <a:xfrm>
              <a:off x="0" y="-47625"/>
              <a:ext cx="1500320" cy="69978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4"/>
          <p:cNvGrpSpPr/>
          <p:nvPr/>
        </p:nvGrpSpPr>
        <p:grpSpPr>
          <a:xfrm>
            <a:off x="13939462" y="5864900"/>
            <a:ext cx="1213249" cy="494030"/>
            <a:chOff x="0" y="-25829"/>
            <a:chExt cx="812800" cy="330969"/>
          </a:xfrm>
        </p:grpSpPr>
        <p:sp>
          <p:nvSpPr>
            <p:cNvPr id="222" name="Google Shape;222;p4"/>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5F8883"/>
            </a:solidFill>
            <a:ln>
              <a:noFill/>
            </a:ln>
          </p:spPr>
        </p:sp>
        <p:sp>
          <p:nvSpPr>
            <p:cNvPr id="223" name="Google Shape;223;p4"/>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4"/>
          <p:cNvGrpSpPr/>
          <p:nvPr/>
        </p:nvGrpSpPr>
        <p:grpSpPr>
          <a:xfrm>
            <a:off x="13939462" y="9152220"/>
            <a:ext cx="1213249" cy="494030"/>
            <a:chOff x="0" y="-25829"/>
            <a:chExt cx="812800" cy="330969"/>
          </a:xfrm>
        </p:grpSpPr>
        <p:sp>
          <p:nvSpPr>
            <p:cNvPr id="225" name="Google Shape;225;p4"/>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212D37"/>
            </a:solidFill>
            <a:ln>
              <a:noFill/>
            </a:ln>
          </p:spPr>
        </p:sp>
        <p:sp>
          <p:nvSpPr>
            <p:cNvPr id="226" name="Google Shape;226;p4"/>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4"/>
          <p:cNvSpPr txBox="1"/>
          <p:nvPr/>
        </p:nvSpPr>
        <p:spPr>
          <a:xfrm>
            <a:off x="602600" y="3811991"/>
            <a:ext cx="5294100" cy="384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499" u="none" cap="none" strike="noStrike">
                <a:solidFill>
                  <a:srgbClr val="212D37"/>
                </a:solidFill>
                <a:latin typeface="Calibri"/>
                <a:ea typeface="Calibri"/>
                <a:cs typeface="Calibri"/>
                <a:sym typeface="Calibri"/>
              </a:rPr>
              <a:t>Sales &amp; Profit by Region and Country</a:t>
            </a:r>
            <a:endParaRPr b="1" sz="1600">
              <a:latin typeface="Calibri"/>
              <a:ea typeface="Calibri"/>
              <a:cs typeface="Calibri"/>
              <a:sym typeface="Calibri"/>
            </a:endParaRPr>
          </a:p>
        </p:txBody>
      </p:sp>
      <p:sp>
        <p:nvSpPr>
          <p:cNvPr id="228" name="Google Shape;228;p4"/>
          <p:cNvSpPr txBox="1"/>
          <p:nvPr/>
        </p:nvSpPr>
        <p:spPr>
          <a:xfrm>
            <a:off x="1694300" y="7029425"/>
            <a:ext cx="3569100" cy="384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499" u="none" cap="none" strike="noStrike">
                <a:solidFill>
                  <a:srgbClr val="212D37"/>
                </a:solidFill>
                <a:latin typeface="Calibri"/>
                <a:ea typeface="Calibri"/>
                <a:cs typeface="Calibri"/>
                <a:sym typeface="Calibri"/>
              </a:rPr>
              <a:t>Discount Impact</a:t>
            </a:r>
            <a:endParaRPr b="1" sz="1600">
              <a:latin typeface="Calibri"/>
              <a:ea typeface="Calibri"/>
              <a:cs typeface="Calibri"/>
              <a:sym typeface="Calibri"/>
            </a:endParaRPr>
          </a:p>
        </p:txBody>
      </p:sp>
      <p:sp>
        <p:nvSpPr>
          <p:cNvPr id="229" name="Google Shape;229;p4"/>
          <p:cNvSpPr txBox="1"/>
          <p:nvPr/>
        </p:nvSpPr>
        <p:spPr>
          <a:xfrm>
            <a:off x="6798338" y="3815912"/>
            <a:ext cx="4558800" cy="3768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1" i="0" lang="en-US" sz="2448" u="none" cap="none" strike="noStrike">
                <a:solidFill>
                  <a:srgbClr val="212D37"/>
                </a:solidFill>
                <a:latin typeface="Calibri"/>
                <a:ea typeface="Calibri"/>
                <a:cs typeface="Calibri"/>
                <a:sym typeface="Calibri"/>
              </a:rPr>
              <a:t>Profitability by Product Category</a:t>
            </a:r>
            <a:endParaRPr b="1" sz="1600">
              <a:latin typeface="Calibri"/>
              <a:ea typeface="Calibri"/>
              <a:cs typeface="Calibri"/>
              <a:sym typeface="Calibri"/>
            </a:endParaRPr>
          </a:p>
        </p:txBody>
      </p:sp>
      <p:sp>
        <p:nvSpPr>
          <p:cNvPr id="230" name="Google Shape;230;p4"/>
          <p:cNvSpPr txBox="1"/>
          <p:nvPr/>
        </p:nvSpPr>
        <p:spPr>
          <a:xfrm>
            <a:off x="7248113" y="7183825"/>
            <a:ext cx="3791700" cy="3693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2399" u="none" cap="none" strike="noStrike">
                <a:solidFill>
                  <a:srgbClr val="212D37"/>
                </a:solidFill>
                <a:latin typeface="Calibri"/>
                <a:ea typeface="Calibri"/>
                <a:cs typeface="Calibri"/>
                <a:sym typeface="Calibri"/>
              </a:rPr>
              <a:t>Shipping Mode Analysis</a:t>
            </a:r>
            <a:endParaRPr b="1" sz="1600">
              <a:latin typeface="Calibri"/>
              <a:ea typeface="Calibri"/>
              <a:cs typeface="Calibri"/>
              <a:sym typeface="Calibri"/>
            </a:endParaRPr>
          </a:p>
        </p:txBody>
      </p:sp>
      <p:sp>
        <p:nvSpPr>
          <p:cNvPr id="231" name="Google Shape;231;p4"/>
          <p:cNvSpPr txBox="1"/>
          <p:nvPr/>
        </p:nvSpPr>
        <p:spPr>
          <a:xfrm>
            <a:off x="794633" y="4272485"/>
            <a:ext cx="4761638" cy="1081058"/>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0" i="0" lang="en-US" sz="2063" u="none" cap="none" strike="noStrike">
                <a:solidFill>
                  <a:srgbClr val="1E2D4F"/>
                </a:solidFill>
                <a:latin typeface="Inter"/>
                <a:ea typeface="Inter"/>
                <a:cs typeface="Inter"/>
                <a:sym typeface="Inter"/>
              </a:rPr>
              <a:t>Which regions and countries generate the highest and lowest sales and profit?</a:t>
            </a:r>
            <a:endParaRPr/>
          </a:p>
        </p:txBody>
      </p:sp>
      <p:sp>
        <p:nvSpPr>
          <p:cNvPr id="232" name="Google Shape;232;p4"/>
          <p:cNvSpPr txBox="1"/>
          <p:nvPr/>
        </p:nvSpPr>
        <p:spPr>
          <a:xfrm>
            <a:off x="2109974" y="7654613"/>
            <a:ext cx="3043125" cy="104457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1E2D4F"/>
                </a:solidFill>
                <a:latin typeface="Inter"/>
                <a:ea typeface="Inter"/>
                <a:cs typeface="Inter"/>
                <a:sym typeface="Inter"/>
              </a:rPr>
              <a:t>What is the impact of discounts on profit margins?</a:t>
            </a:r>
            <a:endParaRPr/>
          </a:p>
        </p:txBody>
      </p:sp>
      <p:sp>
        <p:nvSpPr>
          <p:cNvPr id="233" name="Google Shape;233;p4"/>
          <p:cNvSpPr txBox="1"/>
          <p:nvPr/>
        </p:nvSpPr>
        <p:spPr>
          <a:xfrm>
            <a:off x="6831421" y="4340574"/>
            <a:ext cx="4361593" cy="1081752"/>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0" i="0" lang="en-US" sz="2036" u="none" cap="none" strike="noStrike">
                <a:solidFill>
                  <a:srgbClr val="1E2D4F"/>
                </a:solidFill>
                <a:latin typeface="Inter"/>
                <a:ea typeface="Inter"/>
                <a:cs typeface="Inter"/>
                <a:sym typeface="Inter"/>
              </a:rPr>
              <a:t>What are the most and least profitable product categories and sub-categories?</a:t>
            </a:r>
            <a:endParaRPr/>
          </a:p>
        </p:txBody>
      </p:sp>
      <p:sp>
        <p:nvSpPr>
          <p:cNvPr id="234" name="Google Shape;234;p4"/>
          <p:cNvSpPr txBox="1"/>
          <p:nvPr/>
        </p:nvSpPr>
        <p:spPr>
          <a:xfrm>
            <a:off x="7359417" y="7545237"/>
            <a:ext cx="3636133" cy="13970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1E2D4F"/>
                </a:solidFill>
                <a:latin typeface="Inter"/>
                <a:ea typeface="Inter"/>
                <a:cs typeface="Inter"/>
                <a:sym typeface="Inter"/>
              </a:rPr>
              <a:t>Which shipping modes are most used, and do they affect delivery time or order volume?</a:t>
            </a:r>
            <a:endParaRPr/>
          </a:p>
        </p:txBody>
      </p:sp>
      <p:sp>
        <p:nvSpPr>
          <p:cNvPr id="235" name="Google Shape;235;p4"/>
          <p:cNvSpPr txBox="1"/>
          <p:nvPr/>
        </p:nvSpPr>
        <p:spPr>
          <a:xfrm>
            <a:off x="12233525" y="3696940"/>
            <a:ext cx="4746000" cy="384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499" u="none" cap="none" strike="noStrike">
                <a:solidFill>
                  <a:srgbClr val="212D37"/>
                </a:solidFill>
                <a:latin typeface="Calibri"/>
                <a:ea typeface="Calibri"/>
                <a:cs typeface="Calibri"/>
                <a:sym typeface="Calibri"/>
              </a:rPr>
              <a:t> Customer Segment Performance</a:t>
            </a:r>
            <a:endParaRPr b="1" sz="1600">
              <a:latin typeface="Calibri"/>
              <a:ea typeface="Calibri"/>
              <a:cs typeface="Calibri"/>
              <a:sym typeface="Calibri"/>
            </a:endParaRPr>
          </a:p>
        </p:txBody>
      </p:sp>
      <p:sp>
        <p:nvSpPr>
          <p:cNvPr id="236" name="Google Shape;236;p4"/>
          <p:cNvSpPr txBox="1"/>
          <p:nvPr/>
        </p:nvSpPr>
        <p:spPr>
          <a:xfrm>
            <a:off x="12682025" y="7176175"/>
            <a:ext cx="3849000" cy="384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499" u="none" cap="none" strike="noStrike">
                <a:solidFill>
                  <a:srgbClr val="212D37"/>
                </a:solidFill>
                <a:latin typeface="Calibri"/>
                <a:ea typeface="Calibri"/>
                <a:cs typeface="Calibri"/>
                <a:sym typeface="Calibri"/>
              </a:rPr>
              <a:t>Seasonal &amp; Monthly Trends</a:t>
            </a:r>
            <a:endParaRPr b="1" sz="1600">
              <a:latin typeface="Calibri"/>
              <a:ea typeface="Calibri"/>
              <a:cs typeface="Calibri"/>
              <a:sym typeface="Calibri"/>
            </a:endParaRPr>
          </a:p>
        </p:txBody>
      </p:sp>
      <p:sp>
        <p:nvSpPr>
          <p:cNvPr id="237" name="Google Shape;237;p4"/>
          <p:cNvSpPr txBox="1"/>
          <p:nvPr/>
        </p:nvSpPr>
        <p:spPr>
          <a:xfrm>
            <a:off x="12637454" y="4350099"/>
            <a:ext cx="3849063" cy="104457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1E2D4F"/>
                </a:solidFill>
                <a:latin typeface="Inter"/>
                <a:ea typeface="Inter"/>
                <a:cs typeface="Inter"/>
                <a:sym typeface="Inter"/>
              </a:rPr>
              <a:t>How do different customer segments perform in terms of sales and profit?</a:t>
            </a:r>
            <a:endParaRPr/>
          </a:p>
        </p:txBody>
      </p:sp>
      <p:sp>
        <p:nvSpPr>
          <p:cNvPr id="238" name="Google Shape;238;p4"/>
          <p:cNvSpPr txBox="1"/>
          <p:nvPr/>
        </p:nvSpPr>
        <p:spPr>
          <a:xfrm>
            <a:off x="12722298" y="7709223"/>
            <a:ext cx="3647578" cy="104457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1E2D4F"/>
                </a:solidFill>
                <a:latin typeface="Inter"/>
                <a:ea typeface="Inter"/>
                <a:cs typeface="Inter"/>
                <a:sym typeface="Inter"/>
              </a:rPr>
              <a:t>Are there seasonal or monthly trends in order volume and profitability?</a:t>
            </a:r>
            <a:endParaRPr/>
          </a:p>
        </p:txBody>
      </p:sp>
      <p:sp>
        <p:nvSpPr>
          <p:cNvPr id="239" name="Google Shape;239;p4"/>
          <p:cNvSpPr/>
          <p:nvPr/>
        </p:nvSpPr>
        <p:spPr>
          <a:xfrm>
            <a:off x="256382" y="194329"/>
            <a:ext cx="1067462" cy="1067462"/>
          </a:xfrm>
          <a:custGeom>
            <a:rect b="b" l="l" r="r" t="t"/>
            <a:pathLst>
              <a:path extrusionOk="0" h="1067462" w="1067462">
                <a:moveTo>
                  <a:pt x="0" y="0"/>
                </a:moveTo>
                <a:lnTo>
                  <a:pt x="1067463" y="0"/>
                </a:lnTo>
                <a:lnTo>
                  <a:pt x="1067463" y="1067462"/>
                </a:lnTo>
                <a:lnTo>
                  <a:pt x="0" y="1067462"/>
                </a:lnTo>
                <a:lnTo>
                  <a:pt x="0" y="0"/>
                </a:lnTo>
                <a:close/>
              </a:path>
            </a:pathLst>
          </a:custGeom>
          <a:blipFill rotWithShape="1">
            <a:blip r:embed="rId4">
              <a:alphaModFix/>
            </a:blip>
            <a:stretch>
              <a:fillRect b="0" l="0" r="0" t="0"/>
            </a:stretch>
          </a:blipFill>
          <a:ln>
            <a:noFill/>
          </a:ln>
        </p:spPr>
      </p:sp>
      <p:sp>
        <p:nvSpPr>
          <p:cNvPr id="240" name="Google Shape;240;p4"/>
          <p:cNvSpPr/>
          <p:nvPr/>
        </p:nvSpPr>
        <p:spPr>
          <a:xfrm>
            <a:off x="16595101" y="0"/>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EFE"/>
        </a:solidFill>
      </p:bgPr>
    </p:bg>
    <p:spTree>
      <p:nvGrpSpPr>
        <p:cNvPr id="244" name="Shape 244"/>
        <p:cNvGrpSpPr/>
        <p:nvPr/>
      </p:nvGrpSpPr>
      <p:grpSpPr>
        <a:xfrm>
          <a:off x="0" y="0"/>
          <a:ext cx="0" cy="0"/>
          <a:chOff x="0" y="0"/>
          <a:chExt cx="0" cy="0"/>
        </a:xfrm>
      </p:grpSpPr>
      <p:grpSp>
        <p:nvGrpSpPr>
          <p:cNvPr id="245" name="Google Shape;245;p5"/>
          <p:cNvGrpSpPr/>
          <p:nvPr/>
        </p:nvGrpSpPr>
        <p:grpSpPr>
          <a:xfrm>
            <a:off x="154527" y="8093981"/>
            <a:ext cx="18288000" cy="1877240"/>
            <a:chOff x="0" y="-47625"/>
            <a:chExt cx="6695380" cy="687272"/>
          </a:xfrm>
        </p:grpSpPr>
        <p:sp>
          <p:nvSpPr>
            <p:cNvPr id="246" name="Google Shape;246;p5"/>
            <p:cNvSpPr/>
            <p:nvPr/>
          </p:nvSpPr>
          <p:spPr>
            <a:xfrm>
              <a:off x="0" y="0"/>
              <a:ext cx="6695380" cy="639647"/>
            </a:xfrm>
            <a:custGeom>
              <a:rect b="b" l="l" r="r" t="t"/>
              <a:pathLst>
                <a:path extrusionOk="0" h="639647" w="6695380">
                  <a:moveTo>
                    <a:pt x="0" y="0"/>
                  </a:moveTo>
                  <a:lnTo>
                    <a:pt x="6695380" y="0"/>
                  </a:lnTo>
                  <a:lnTo>
                    <a:pt x="6695380" y="639647"/>
                  </a:lnTo>
                  <a:lnTo>
                    <a:pt x="0" y="639647"/>
                  </a:lnTo>
                  <a:close/>
                </a:path>
              </a:pathLst>
            </a:custGeom>
            <a:solidFill>
              <a:srgbClr val="5F8883"/>
            </a:solidFill>
            <a:ln>
              <a:noFill/>
            </a:ln>
          </p:spPr>
        </p:sp>
        <p:sp>
          <p:nvSpPr>
            <p:cNvPr id="247" name="Google Shape;247;p5"/>
            <p:cNvSpPr txBox="1"/>
            <p:nvPr/>
          </p:nvSpPr>
          <p:spPr>
            <a:xfrm>
              <a:off x="0" y="-47625"/>
              <a:ext cx="6695380" cy="68727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5"/>
          <p:cNvGrpSpPr/>
          <p:nvPr/>
        </p:nvGrpSpPr>
        <p:grpSpPr>
          <a:xfrm>
            <a:off x="8691903" y="9792970"/>
            <a:ext cx="1213249" cy="494030"/>
            <a:chOff x="0" y="-25829"/>
            <a:chExt cx="812800" cy="330969"/>
          </a:xfrm>
        </p:grpSpPr>
        <p:sp>
          <p:nvSpPr>
            <p:cNvPr id="249" name="Google Shape;249;p5"/>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5F8883"/>
            </a:solidFill>
            <a:ln>
              <a:noFill/>
            </a:ln>
          </p:spPr>
        </p:sp>
        <p:sp>
          <p:nvSpPr>
            <p:cNvPr id="250" name="Google Shape;250;p5"/>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5"/>
          <p:cNvGrpSpPr/>
          <p:nvPr/>
        </p:nvGrpSpPr>
        <p:grpSpPr>
          <a:xfrm>
            <a:off x="419490" y="8408329"/>
            <a:ext cx="17449019" cy="1262377"/>
            <a:chOff x="0" y="-47625"/>
            <a:chExt cx="6388223" cy="462166"/>
          </a:xfrm>
        </p:grpSpPr>
        <p:sp>
          <p:nvSpPr>
            <p:cNvPr id="252" name="Google Shape;252;p5"/>
            <p:cNvSpPr/>
            <p:nvPr/>
          </p:nvSpPr>
          <p:spPr>
            <a:xfrm>
              <a:off x="0" y="0"/>
              <a:ext cx="6388223" cy="414541"/>
            </a:xfrm>
            <a:custGeom>
              <a:rect b="b" l="l" r="r" t="t"/>
              <a:pathLst>
                <a:path extrusionOk="0" h="414541" w="6388223">
                  <a:moveTo>
                    <a:pt x="0" y="0"/>
                  </a:moveTo>
                  <a:lnTo>
                    <a:pt x="6388223" y="0"/>
                  </a:lnTo>
                  <a:lnTo>
                    <a:pt x="6388223" y="414541"/>
                  </a:lnTo>
                  <a:lnTo>
                    <a:pt x="0" y="414541"/>
                  </a:lnTo>
                  <a:close/>
                </a:path>
              </a:pathLst>
            </a:custGeom>
            <a:solidFill>
              <a:srgbClr val="FFFFFF"/>
            </a:solidFill>
            <a:ln>
              <a:noFill/>
            </a:ln>
          </p:spPr>
        </p:sp>
        <p:sp>
          <p:nvSpPr>
            <p:cNvPr id="253" name="Google Shape;253;p5"/>
            <p:cNvSpPr txBox="1"/>
            <p:nvPr/>
          </p:nvSpPr>
          <p:spPr>
            <a:xfrm>
              <a:off x="0" y="-47625"/>
              <a:ext cx="6388223" cy="462166"/>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1" i="0" lang="en-US" sz="2400" u="none" cap="none" strike="noStrike">
                  <a:solidFill>
                    <a:srgbClr val="212D37"/>
                  </a:solidFill>
                  <a:latin typeface="Calibri"/>
                  <a:ea typeface="Calibri"/>
                  <a:cs typeface="Calibri"/>
                  <a:sym typeface="Calibri"/>
                </a:rPr>
                <a:t> </a:t>
              </a:r>
              <a:r>
                <a:rPr b="1" lang="en-US" sz="2400">
                  <a:solidFill>
                    <a:srgbClr val="212D37"/>
                  </a:solidFill>
                  <a:latin typeface="Calibri"/>
                  <a:ea typeface="Calibri"/>
                  <a:cs typeface="Calibri"/>
                  <a:sym typeface="Calibri"/>
                </a:rPr>
                <a:t>T</a:t>
              </a:r>
              <a:r>
                <a:rPr b="1" i="0" lang="en-US" sz="2400" u="none" cap="none" strike="noStrike">
                  <a:solidFill>
                    <a:srgbClr val="212D37"/>
                  </a:solidFill>
                  <a:latin typeface="Calibri"/>
                  <a:ea typeface="Calibri"/>
                  <a:cs typeface="Calibri"/>
                  <a:sym typeface="Calibri"/>
                </a:rPr>
                <a:t>he Entity Relationship Model (ERM) was created to identify Key Entities, Attributes and their Relationship providing a clear view of  the data structure for SQL Design and Analysis</a:t>
              </a:r>
              <a:endParaRPr b="1">
                <a:latin typeface="Calibri"/>
                <a:ea typeface="Calibri"/>
                <a:cs typeface="Calibri"/>
                <a:sym typeface="Calibri"/>
              </a:endParaRPr>
            </a:p>
          </p:txBody>
        </p:sp>
      </p:grpSp>
      <p:sp>
        <p:nvSpPr>
          <p:cNvPr id="254" name="Google Shape;254;p5"/>
          <p:cNvSpPr/>
          <p:nvPr/>
        </p:nvSpPr>
        <p:spPr>
          <a:xfrm>
            <a:off x="1239248" y="497191"/>
            <a:ext cx="15677053" cy="8041223"/>
          </a:xfrm>
          <a:custGeom>
            <a:rect b="b" l="l" r="r" t="t"/>
            <a:pathLst>
              <a:path extrusionOk="0" h="8041223" w="15677053">
                <a:moveTo>
                  <a:pt x="0" y="0"/>
                </a:moveTo>
                <a:lnTo>
                  <a:pt x="15677052" y="0"/>
                </a:lnTo>
                <a:lnTo>
                  <a:pt x="15677052" y="8041223"/>
                </a:lnTo>
                <a:lnTo>
                  <a:pt x="0" y="8041223"/>
                </a:lnTo>
                <a:lnTo>
                  <a:pt x="0" y="0"/>
                </a:lnTo>
                <a:close/>
              </a:path>
            </a:pathLst>
          </a:custGeom>
          <a:blipFill rotWithShape="1">
            <a:blip r:embed="rId3">
              <a:alphaModFix/>
            </a:blip>
            <a:stretch>
              <a:fillRect b="0" l="-2301" r="-698" t="-270"/>
            </a:stretch>
          </a:blipFill>
          <a:ln>
            <a:noFill/>
          </a:ln>
        </p:spPr>
      </p:sp>
      <p:sp>
        <p:nvSpPr>
          <p:cNvPr id="255" name="Google Shape;255;p5"/>
          <p:cNvSpPr txBox="1"/>
          <p:nvPr/>
        </p:nvSpPr>
        <p:spPr>
          <a:xfrm>
            <a:off x="688258" y="-30135"/>
            <a:ext cx="7073751" cy="596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500" u="none" cap="none" strike="noStrike">
                <a:solidFill>
                  <a:srgbClr val="4E7C7D"/>
                </a:solidFill>
                <a:latin typeface="Arial"/>
                <a:ea typeface="Arial"/>
                <a:cs typeface="Arial"/>
                <a:sym typeface="Arial"/>
              </a:rPr>
              <a:t>The Global SuperStore ERM</a:t>
            </a:r>
            <a:endParaRPr/>
          </a:p>
        </p:txBody>
      </p:sp>
      <p:sp>
        <p:nvSpPr>
          <p:cNvPr id="256" name="Google Shape;256;p5"/>
          <p:cNvSpPr/>
          <p:nvPr/>
        </p:nvSpPr>
        <p:spPr>
          <a:xfrm>
            <a:off x="154527" y="0"/>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
        <p:nvSpPr>
          <p:cNvPr id="257" name="Google Shape;257;p5"/>
          <p:cNvSpPr/>
          <p:nvPr/>
        </p:nvSpPr>
        <p:spPr>
          <a:xfrm>
            <a:off x="17259300" y="-36540"/>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6"/>
          <p:cNvSpPr/>
          <p:nvPr/>
        </p:nvSpPr>
        <p:spPr>
          <a:xfrm>
            <a:off x="717798" y="1028700"/>
            <a:ext cx="15395435" cy="9075075"/>
          </a:xfrm>
          <a:custGeom>
            <a:rect b="b" l="l" r="r" t="t"/>
            <a:pathLst>
              <a:path extrusionOk="0" h="9075075" w="15395435">
                <a:moveTo>
                  <a:pt x="0" y="0"/>
                </a:moveTo>
                <a:lnTo>
                  <a:pt x="15395435" y="0"/>
                </a:lnTo>
                <a:lnTo>
                  <a:pt x="15395435" y="9075075"/>
                </a:lnTo>
                <a:lnTo>
                  <a:pt x="0" y="9075075"/>
                </a:lnTo>
                <a:lnTo>
                  <a:pt x="0" y="0"/>
                </a:lnTo>
                <a:close/>
              </a:path>
            </a:pathLst>
          </a:custGeom>
          <a:blipFill rotWithShape="1">
            <a:blip r:embed="rId3">
              <a:alphaModFix/>
            </a:blip>
            <a:stretch>
              <a:fillRect b="0" l="-1615" r="-346" t="-15317"/>
            </a:stretch>
          </a:blipFill>
          <a:ln>
            <a:noFill/>
          </a:ln>
        </p:spPr>
      </p:sp>
      <p:sp>
        <p:nvSpPr>
          <p:cNvPr id="263" name="Google Shape;263;p6"/>
          <p:cNvSpPr/>
          <p:nvPr/>
        </p:nvSpPr>
        <p:spPr>
          <a:xfrm>
            <a:off x="0" y="-38762"/>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
        <p:nvSpPr>
          <p:cNvPr id="264" name="Google Shape;264;p6"/>
          <p:cNvSpPr/>
          <p:nvPr/>
        </p:nvSpPr>
        <p:spPr>
          <a:xfrm>
            <a:off x="17220538" y="-38762"/>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
        <p:nvSpPr>
          <p:cNvPr id="265" name="Google Shape;265;p6"/>
          <p:cNvSpPr/>
          <p:nvPr/>
        </p:nvSpPr>
        <p:spPr>
          <a:xfrm>
            <a:off x="15142941" y="7424421"/>
            <a:ext cx="2510679" cy="962947"/>
          </a:xfrm>
          <a:custGeom>
            <a:rect b="b" l="l" r="r" t="t"/>
            <a:pathLst>
              <a:path extrusionOk="0" h="962947" w="2510679">
                <a:moveTo>
                  <a:pt x="0" y="0"/>
                </a:moveTo>
                <a:lnTo>
                  <a:pt x="2510678" y="0"/>
                </a:lnTo>
                <a:lnTo>
                  <a:pt x="2510678" y="962947"/>
                </a:lnTo>
                <a:lnTo>
                  <a:pt x="0" y="962947"/>
                </a:lnTo>
                <a:lnTo>
                  <a:pt x="0" y="0"/>
                </a:lnTo>
                <a:close/>
              </a:path>
            </a:pathLst>
          </a:custGeom>
          <a:blipFill rotWithShape="1">
            <a:blip r:embed="rId5">
              <a:alphaModFix/>
            </a:blip>
            <a:stretch>
              <a:fillRect b="0" l="0" r="0" t="0"/>
            </a:stretch>
          </a:blipFill>
          <a:ln>
            <a:noFill/>
          </a:ln>
        </p:spPr>
      </p:sp>
      <p:sp>
        <p:nvSpPr>
          <p:cNvPr id="266" name="Google Shape;266;p6"/>
          <p:cNvSpPr txBox="1"/>
          <p:nvPr/>
        </p:nvSpPr>
        <p:spPr>
          <a:xfrm>
            <a:off x="15389693" y="8339743"/>
            <a:ext cx="2898307" cy="1217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335" u="none" cap="none" strike="noStrike">
                <a:solidFill>
                  <a:srgbClr val="3B5D5A"/>
                </a:solidFill>
                <a:latin typeface="Arial"/>
                <a:ea typeface="Arial"/>
                <a:cs typeface="Arial"/>
                <a:sym typeface="Arial"/>
              </a:rPr>
              <a:t>SQL-to-Power BI connection for seamless analysis</a:t>
            </a:r>
            <a:endParaRPr/>
          </a:p>
        </p:txBody>
      </p:sp>
      <p:sp>
        <p:nvSpPr>
          <p:cNvPr id="267" name="Google Shape;267;p6"/>
          <p:cNvSpPr txBox="1"/>
          <p:nvPr/>
        </p:nvSpPr>
        <p:spPr>
          <a:xfrm>
            <a:off x="2873183" y="428294"/>
            <a:ext cx="11084664" cy="6299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700" u="none" cap="none" strike="noStrike">
                <a:solidFill>
                  <a:srgbClr val="4E7C7D"/>
                </a:solidFill>
                <a:latin typeface="Arial"/>
                <a:ea typeface="Arial"/>
                <a:cs typeface="Arial"/>
                <a:sym typeface="Arial"/>
              </a:rPr>
              <a:t>Data Cleaning &amp; Merging Process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grpSp>
        <p:nvGrpSpPr>
          <p:cNvPr id="272" name="Google Shape;272;p7"/>
          <p:cNvGrpSpPr/>
          <p:nvPr/>
        </p:nvGrpSpPr>
        <p:grpSpPr>
          <a:xfrm>
            <a:off x="0" y="8482376"/>
            <a:ext cx="18288000" cy="1421764"/>
            <a:chOff x="0" y="-47625"/>
            <a:chExt cx="6695380" cy="520519"/>
          </a:xfrm>
        </p:grpSpPr>
        <p:sp>
          <p:nvSpPr>
            <p:cNvPr id="273" name="Google Shape;273;p7"/>
            <p:cNvSpPr/>
            <p:nvPr/>
          </p:nvSpPr>
          <p:spPr>
            <a:xfrm>
              <a:off x="0" y="0"/>
              <a:ext cx="6695380" cy="472894"/>
            </a:xfrm>
            <a:custGeom>
              <a:rect b="b" l="l" r="r" t="t"/>
              <a:pathLst>
                <a:path extrusionOk="0" h="472894" w="6695380">
                  <a:moveTo>
                    <a:pt x="0" y="0"/>
                  </a:moveTo>
                  <a:lnTo>
                    <a:pt x="6695380" y="0"/>
                  </a:lnTo>
                  <a:lnTo>
                    <a:pt x="6695380" y="472894"/>
                  </a:lnTo>
                  <a:lnTo>
                    <a:pt x="0" y="472894"/>
                  </a:lnTo>
                  <a:close/>
                </a:path>
              </a:pathLst>
            </a:custGeom>
            <a:solidFill>
              <a:srgbClr val="5F8883"/>
            </a:solidFill>
            <a:ln>
              <a:noFill/>
            </a:ln>
          </p:spPr>
        </p:sp>
        <p:sp>
          <p:nvSpPr>
            <p:cNvPr id="274" name="Google Shape;274;p7"/>
            <p:cNvSpPr txBox="1"/>
            <p:nvPr/>
          </p:nvSpPr>
          <p:spPr>
            <a:xfrm>
              <a:off x="0" y="-47625"/>
              <a:ext cx="6695380" cy="52051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p7"/>
          <p:cNvGrpSpPr/>
          <p:nvPr/>
        </p:nvGrpSpPr>
        <p:grpSpPr>
          <a:xfrm>
            <a:off x="419490" y="7984898"/>
            <a:ext cx="17449019" cy="1626606"/>
            <a:chOff x="0" y="-47625"/>
            <a:chExt cx="6388223" cy="595513"/>
          </a:xfrm>
        </p:grpSpPr>
        <p:sp>
          <p:nvSpPr>
            <p:cNvPr id="276" name="Google Shape;276;p7"/>
            <p:cNvSpPr/>
            <p:nvPr/>
          </p:nvSpPr>
          <p:spPr>
            <a:xfrm>
              <a:off x="0" y="0"/>
              <a:ext cx="6388223" cy="547888"/>
            </a:xfrm>
            <a:custGeom>
              <a:rect b="b" l="l" r="r" t="t"/>
              <a:pathLst>
                <a:path extrusionOk="0" h="547888" w="6388223">
                  <a:moveTo>
                    <a:pt x="0" y="0"/>
                  </a:moveTo>
                  <a:lnTo>
                    <a:pt x="6388223" y="0"/>
                  </a:lnTo>
                  <a:lnTo>
                    <a:pt x="6388223" y="547888"/>
                  </a:lnTo>
                  <a:lnTo>
                    <a:pt x="0" y="547888"/>
                  </a:lnTo>
                  <a:close/>
                </a:path>
              </a:pathLst>
            </a:custGeom>
            <a:solidFill>
              <a:srgbClr val="FFFFFF"/>
            </a:solidFill>
            <a:ln>
              <a:noFill/>
            </a:ln>
          </p:spPr>
        </p:sp>
        <p:sp>
          <p:nvSpPr>
            <p:cNvPr id="277" name="Google Shape;277;p7"/>
            <p:cNvSpPr txBox="1"/>
            <p:nvPr/>
          </p:nvSpPr>
          <p:spPr>
            <a:xfrm>
              <a:off x="0" y="-47625"/>
              <a:ext cx="6388223" cy="595513"/>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1" i="0" lang="en-US" sz="2500" u="none" cap="none" strike="noStrike">
                  <a:solidFill>
                    <a:srgbClr val="212D37"/>
                  </a:solidFill>
                  <a:latin typeface="Calibri"/>
                  <a:ea typeface="Calibri"/>
                  <a:cs typeface="Calibri"/>
                  <a:sym typeface="Calibri"/>
                </a:rPr>
                <a:t>After finalizing the </a:t>
              </a:r>
              <a:r>
                <a:rPr b="1" lang="en-US" sz="2500">
                  <a:solidFill>
                    <a:srgbClr val="212D37"/>
                  </a:solidFill>
                  <a:latin typeface="Calibri"/>
                  <a:ea typeface="Calibri"/>
                  <a:cs typeface="Calibri"/>
                  <a:sym typeface="Calibri"/>
                </a:rPr>
                <a:t>Cleaning</a:t>
              </a:r>
              <a:r>
                <a:rPr b="1" i="0" lang="en-US" sz="2500" u="none" cap="none" strike="noStrike">
                  <a:solidFill>
                    <a:srgbClr val="212D37"/>
                  </a:solidFill>
                  <a:latin typeface="Calibri"/>
                  <a:ea typeface="Calibri"/>
                  <a:cs typeface="Calibri"/>
                  <a:sym typeface="Calibri"/>
                </a:rPr>
                <a:t>, the Entity Relationship Diagram (ERD) was developed to define the database schema and table structures. Primary Keys (PKs) and Foreign Keys (FKs) were assigned to ensure data integrity and establish relationships between tables.</a:t>
              </a:r>
              <a:endParaRPr b="1" sz="1500">
                <a:latin typeface="Calibri"/>
                <a:ea typeface="Calibri"/>
                <a:cs typeface="Calibri"/>
                <a:sym typeface="Calibri"/>
              </a:endParaRPr>
            </a:p>
          </p:txBody>
        </p:sp>
      </p:grpSp>
      <p:grpSp>
        <p:nvGrpSpPr>
          <p:cNvPr id="278" name="Google Shape;278;p7"/>
          <p:cNvGrpSpPr/>
          <p:nvPr/>
        </p:nvGrpSpPr>
        <p:grpSpPr>
          <a:xfrm>
            <a:off x="8689524" y="9792970"/>
            <a:ext cx="1213249" cy="494030"/>
            <a:chOff x="0" y="-25829"/>
            <a:chExt cx="812800" cy="330969"/>
          </a:xfrm>
        </p:grpSpPr>
        <p:sp>
          <p:nvSpPr>
            <p:cNvPr id="279" name="Google Shape;279;p7"/>
            <p:cNvSpPr/>
            <p:nvPr/>
          </p:nvSpPr>
          <p:spPr>
            <a:xfrm>
              <a:off x="0" y="0"/>
              <a:ext cx="812800" cy="305140"/>
            </a:xfrm>
            <a:custGeom>
              <a:rect b="b" l="l" r="r" t="t"/>
              <a:pathLst>
                <a:path extrusionOk="0" h="305140" w="812800">
                  <a:moveTo>
                    <a:pt x="406400" y="305140"/>
                  </a:moveTo>
                  <a:lnTo>
                    <a:pt x="812800" y="0"/>
                  </a:lnTo>
                  <a:lnTo>
                    <a:pt x="0" y="0"/>
                  </a:lnTo>
                  <a:lnTo>
                    <a:pt x="406400" y="305140"/>
                  </a:lnTo>
                  <a:close/>
                </a:path>
              </a:pathLst>
            </a:custGeom>
            <a:solidFill>
              <a:srgbClr val="5F8883"/>
            </a:solidFill>
            <a:ln>
              <a:noFill/>
            </a:ln>
          </p:spPr>
        </p:sp>
        <p:sp>
          <p:nvSpPr>
            <p:cNvPr id="280" name="Google Shape;280;p7"/>
            <p:cNvSpPr txBox="1"/>
            <p:nvPr/>
          </p:nvSpPr>
          <p:spPr>
            <a:xfrm>
              <a:off x="127000" y="-25829"/>
              <a:ext cx="558800" cy="18929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1" name="Google Shape;281;p7"/>
          <p:cNvSpPr/>
          <p:nvPr/>
        </p:nvSpPr>
        <p:spPr>
          <a:xfrm>
            <a:off x="2667247" y="640184"/>
            <a:ext cx="13544781" cy="7331925"/>
          </a:xfrm>
          <a:custGeom>
            <a:rect b="b" l="l" r="r" t="t"/>
            <a:pathLst>
              <a:path extrusionOk="0" h="7331925" w="13544781">
                <a:moveTo>
                  <a:pt x="0" y="0"/>
                </a:moveTo>
                <a:lnTo>
                  <a:pt x="13544782" y="0"/>
                </a:lnTo>
                <a:lnTo>
                  <a:pt x="13544782" y="7331924"/>
                </a:lnTo>
                <a:lnTo>
                  <a:pt x="0" y="7331924"/>
                </a:lnTo>
                <a:lnTo>
                  <a:pt x="0" y="0"/>
                </a:lnTo>
                <a:close/>
              </a:path>
            </a:pathLst>
          </a:custGeom>
          <a:blipFill rotWithShape="1">
            <a:blip r:embed="rId3">
              <a:alphaModFix/>
            </a:blip>
            <a:stretch>
              <a:fillRect b="-5645" l="0" r="0" t="-2822"/>
            </a:stretch>
          </a:blipFill>
          <a:ln>
            <a:noFill/>
          </a:ln>
        </p:spPr>
      </p:sp>
      <p:sp>
        <p:nvSpPr>
          <p:cNvPr id="282" name="Google Shape;282;p7"/>
          <p:cNvSpPr txBox="1"/>
          <p:nvPr/>
        </p:nvSpPr>
        <p:spPr>
          <a:xfrm>
            <a:off x="573958" y="-66675"/>
            <a:ext cx="7073751" cy="596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500" u="none" cap="none" strike="noStrike">
                <a:solidFill>
                  <a:srgbClr val="4E7C7D"/>
                </a:solidFill>
                <a:latin typeface="Arial"/>
                <a:ea typeface="Arial"/>
                <a:cs typeface="Arial"/>
                <a:sym typeface="Arial"/>
              </a:rPr>
              <a:t>The Global SuperStore ERD</a:t>
            </a:r>
            <a:endParaRPr/>
          </a:p>
        </p:txBody>
      </p:sp>
      <p:sp>
        <p:nvSpPr>
          <p:cNvPr id="283" name="Google Shape;283;p7"/>
          <p:cNvSpPr/>
          <p:nvPr/>
        </p:nvSpPr>
        <p:spPr>
          <a:xfrm>
            <a:off x="40227" y="0"/>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
        <p:nvSpPr>
          <p:cNvPr id="284" name="Google Shape;284;p7"/>
          <p:cNvSpPr/>
          <p:nvPr/>
        </p:nvSpPr>
        <p:spPr>
          <a:xfrm>
            <a:off x="17013999" y="0"/>
            <a:ext cx="1067462" cy="1067462"/>
          </a:xfrm>
          <a:custGeom>
            <a:rect b="b" l="l" r="r" t="t"/>
            <a:pathLst>
              <a:path extrusionOk="0" h="1067462" w="1067462">
                <a:moveTo>
                  <a:pt x="0" y="0"/>
                </a:moveTo>
                <a:lnTo>
                  <a:pt x="1067462" y="0"/>
                </a:lnTo>
                <a:lnTo>
                  <a:pt x="1067462" y="1067462"/>
                </a:lnTo>
                <a:lnTo>
                  <a:pt x="0" y="106746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8"/>
          <p:cNvSpPr/>
          <p:nvPr/>
        </p:nvSpPr>
        <p:spPr>
          <a:xfrm>
            <a:off x="0" y="1454929"/>
            <a:ext cx="13739342" cy="7989983"/>
          </a:xfrm>
          <a:custGeom>
            <a:rect b="b" l="l" r="r" t="t"/>
            <a:pathLst>
              <a:path extrusionOk="0" h="7989983" w="13739342">
                <a:moveTo>
                  <a:pt x="0" y="0"/>
                </a:moveTo>
                <a:lnTo>
                  <a:pt x="13739342" y="0"/>
                </a:lnTo>
                <a:lnTo>
                  <a:pt x="13739342" y="7989983"/>
                </a:lnTo>
                <a:lnTo>
                  <a:pt x="0" y="7989983"/>
                </a:lnTo>
                <a:lnTo>
                  <a:pt x="0" y="0"/>
                </a:lnTo>
                <a:close/>
              </a:path>
            </a:pathLst>
          </a:custGeom>
          <a:blipFill rotWithShape="1">
            <a:blip r:embed="rId3">
              <a:alphaModFix/>
            </a:blip>
            <a:stretch>
              <a:fillRect b="-5693" l="0" r="0" t="-5035"/>
            </a:stretch>
          </a:blipFill>
          <a:ln>
            <a:noFill/>
          </a:ln>
        </p:spPr>
      </p:sp>
      <p:sp>
        <p:nvSpPr>
          <p:cNvPr id="290" name="Google Shape;290;p8"/>
          <p:cNvSpPr/>
          <p:nvPr/>
        </p:nvSpPr>
        <p:spPr>
          <a:xfrm>
            <a:off x="8061950" y="3429000"/>
            <a:ext cx="9926903" cy="6566883"/>
          </a:xfrm>
          <a:custGeom>
            <a:rect b="b" l="l" r="r" t="t"/>
            <a:pathLst>
              <a:path extrusionOk="0" h="6949083" w="10968954">
                <a:moveTo>
                  <a:pt x="5484478" y="0"/>
                </a:moveTo>
                <a:cubicBezTo>
                  <a:pt x="2455484" y="0"/>
                  <a:pt x="0" y="1555606"/>
                  <a:pt x="0" y="3474542"/>
                </a:cubicBezTo>
                <a:cubicBezTo>
                  <a:pt x="0" y="5393479"/>
                  <a:pt x="2455484" y="6949084"/>
                  <a:pt x="5484478" y="6949084"/>
                </a:cubicBezTo>
                <a:cubicBezTo>
                  <a:pt x="8513470" y="6949084"/>
                  <a:pt x="10968954" y="5393479"/>
                  <a:pt x="10968954" y="3474542"/>
                </a:cubicBezTo>
                <a:cubicBezTo>
                  <a:pt x="10968954" y="1555606"/>
                  <a:pt x="8513470" y="0"/>
                  <a:pt x="5484478" y="0"/>
                </a:cubicBezTo>
                <a:close/>
              </a:path>
            </a:pathLst>
          </a:custGeom>
          <a:solidFill>
            <a:srgbClr val="9AC4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txBox="1"/>
          <p:nvPr/>
        </p:nvSpPr>
        <p:spPr>
          <a:xfrm>
            <a:off x="5386371" y="-66675"/>
            <a:ext cx="8863702" cy="121602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599" u="none" cap="none" strike="noStrike">
                <a:solidFill>
                  <a:srgbClr val="498E66"/>
                </a:solidFill>
                <a:latin typeface="Arial"/>
                <a:ea typeface="Arial"/>
                <a:cs typeface="Arial"/>
                <a:sym typeface="Arial"/>
              </a:rPr>
              <a:t>Exploratory Data Analysis (EDA)</a:t>
            </a:r>
            <a:endParaRPr/>
          </a:p>
          <a:p>
            <a:pPr indent="0" lvl="0" marL="0" marR="0" rtl="0" algn="ctr">
              <a:lnSpc>
                <a:spcPct val="132231"/>
              </a:lnSpc>
              <a:spcBef>
                <a:spcPts val="0"/>
              </a:spcBef>
              <a:spcAft>
                <a:spcPts val="0"/>
              </a:spcAft>
              <a:buNone/>
            </a:pPr>
            <a:r>
              <a:t/>
            </a:r>
            <a:endParaRPr b="1" i="0" sz="3599" u="none" cap="none" strike="noStrike">
              <a:solidFill>
                <a:srgbClr val="498E66"/>
              </a:solidFill>
              <a:latin typeface="Arial"/>
              <a:ea typeface="Arial"/>
              <a:cs typeface="Arial"/>
              <a:sym typeface="Arial"/>
            </a:endParaRPr>
          </a:p>
        </p:txBody>
      </p:sp>
      <p:sp>
        <p:nvSpPr>
          <p:cNvPr id="292" name="Google Shape;292;p8"/>
          <p:cNvSpPr txBox="1"/>
          <p:nvPr/>
        </p:nvSpPr>
        <p:spPr>
          <a:xfrm>
            <a:off x="8804900" y="3893825"/>
            <a:ext cx="8515500" cy="7012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300" u="none" cap="none" strike="noStrike">
                <a:solidFill>
                  <a:srgbClr val="000000"/>
                </a:solidFill>
                <a:latin typeface="Arial"/>
                <a:ea typeface="Arial"/>
                <a:cs typeface="Arial"/>
                <a:sym typeface="Arial"/>
              </a:rPr>
              <a:t>Business Question:</a:t>
            </a:r>
            <a:endParaRPr/>
          </a:p>
          <a:p>
            <a:pPr indent="0" lvl="0" marL="0" marR="0" rtl="0" algn="ctr">
              <a:lnSpc>
                <a:spcPct val="140000"/>
              </a:lnSpc>
              <a:spcBef>
                <a:spcPts val="0"/>
              </a:spcBef>
              <a:spcAft>
                <a:spcPts val="0"/>
              </a:spcAft>
              <a:buNone/>
            </a:pPr>
            <a:r>
              <a:rPr b="1" i="0" lang="en-US" sz="2300" u="none" cap="none" strike="noStrike">
                <a:solidFill>
                  <a:srgbClr val="FFFFFF"/>
                </a:solidFill>
                <a:latin typeface="Arial"/>
                <a:ea typeface="Arial"/>
                <a:cs typeface="Arial"/>
                <a:sym typeface="Arial"/>
              </a:rPr>
              <a:t>Which countries generate the highest sales and profit?</a:t>
            </a:r>
            <a:endParaRPr/>
          </a:p>
          <a:p>
            <a:pPr indent="0" lvl="0" marL="0" marR="0" rtl="0" algn="ctr">
              <a:lnSpc>
                <a:spcPct val="140000"/>
              </a:lnSpc>
              <a:spcBef>
                <a:spcPts val="0"/>
              </a:spcBef>
              <a:spcAft>
                <a:spcPts val="0"/>
              </a:spcAft>
              <a:buNone/>
            </a:pPr>
            <a:r>
              <a:t/>
            </a:r>
            <a:endParaRPr b="1" i="0" sz="2300" u="none" cap="none" strike="noStrike">
              <a:solidFill>
                <a:srgbClr val="FFFFFF"/>
              </a:solidFill>
              <a:latin typeface="Arial"/>
              <a:ea typeface="Arial"/>
              <a:cs typeface="Arial"/>
              <a:sym typeface="Arial"/>
            </a:endParaRPr>
          </a:p>
          <a:p>
            <a:pPr indent="-248288" lvl="1" marL="496575" marR="0" rtl="0" algn="ctr">
              <a:lnSpc>
                <a:spcPct val="140000"/>
              </a:lnSpc>
              <a:spcBef>
                <a:spcPts val="0"/>
              </a:spcBef>
              <a:spcAft>
                <a:spcPts val="0"/>
              </a:spcAft>
              <a:buClr>
                <a:srgbClr val="000000"/>
              </a:buClr>
              <a:buSzPts val="2300"/>
              <a:buFont typeface="Arial"/>
              <a:buChar char="•"/>
            </a:pPr>
            <a:r>
              <a:rPr b="0" i="0" lang="en-US" sz="2300" u="none" cap="none" strike="noStrike">
                <a:solidFill>
                  <a:srgbClr val="000000"/>
                </a:solidFill>
                <a:latin typeface="Arial"/>
                <a:ea typeface="Arial"/>
                <a:cs typeface="Arial"/>
                <a:sym typeface="Arial"/>
              </a:rPr>
              <a:t>Mexico leads with 73bn sales and 16bn profit.</a:t>
            </a:r>
            <a:endParaRPr/>
          </a:p>
          <a:p>
            <a:pPr indent="-248288" lvl="1" marL="496575" marR="0" rtl="0" algn="ctr">
              <a:lnSpc>
                <a:spcPct val="140000"/>
              </a:lnSpc>
              <a:spcBef>
                <a:spcPts val="0"/>
              </a:spcBef>
              <a:spcAft>
                <a:spcPts val="0"/>
              </a:spcAft>
              <a:buClr>
                <a:srgbClr val="000000"/>
              </a:buClr>
              <a:buSzPts val="2300"/>
              <a:buFont typeface="Arial"/>
              <a:buChar char="•"/>
            </a:pPr>
            <a:r>
              <a:rPr b="0" i="0" lang="en-US" sz="2300" u="none" cap="none" strike="noStrike">
                <a:solidFill>
                  <a:srgbClr val="000000"/>
                </a:solidFill>
                <a:latin typeface="Arial"/>
                <a:ea typeface="Arial"/>
                <a:cs typeface="Arial"/>
                <a:sym typeface="Arial"/>
              </a:rPr>
              <a:t>Brazil and Indonesia follow in sales but with lower profits.</a:t>
            </a:r>
            <a:endParaRPr/>
          </a:p>
          <a:p>
            <a:pPr indent="-248288" lvl="1" marL="496575" marR="0" rtl="0" algn="ctr">
              <a:lnSpc>
                <a:spcPct val="140000"/>
              </a:lnSpc>
              <a:spcBef>
                <a:spcPts val="0"/>
              </a:spcBef>
              <a:spcAft>
                <a:spcPts val="0"/>
              </a:spcAft>
              <a:buClr>
                <a:srgbClr val="000000"/>
              </a:buClr>
              <a:buSzPts val="2300"/>
              <a:buFont typeface="Arial"/>
              <a:buChar char="•"/>
            </a:pPr>
            <a:r>
              <a:rPr b="0" i="0" lang="en-US" sz="2300" u="none" cap="none" strike="noStrike">
                <a:solidFill>
                  <a:srgbClr val="000000"/>
                </a:solidFill>
                <a:latin typeface="Arial"/>
                <a:ea typeface="Arial"/>
                <a:cs typeface="Arial"/>
                <a:sym typeface="Arial"/>
              </a:rPr>
              <a:t>The United States shows relatively lower sales but higher profit margins.</a:t>
            </a:r>
            <a:endParaRPr/>
          </a:p>
          <a:p>
            <a:pPr indent="-248288" lvl="1" marL="496575" marR="0" rtl="0" algn="ctr">
              <a:lnSpc>
                <a:spcPct val="140000"/>
              </a:lnSpc>
              <a:spcBef>
                <a:spcPts val="0"/>
              </a:spcBef>
              <a:spcAft>
                <a:spcPts val="0"/>
              </a:spcAft>
              <a:buClr>
                <a:srgbClr val="000000"/>
              </a:buClr>
              <a:buSzPts val="2300"/>
              <a:buFont typeface="Arial"/>
              <a:buChar char="•"/>
            </a:pPr>
            <a:r>
              <a:rPr b="0" i="0" lang="en-US" sz="2300" u="none" cap="none" strike="noStrike">
                <a:solidFill>
                  <a:srgbClr val="000000"/>
                </a:solidFill>
                <a:latin typeface="Arial"/>
                <a:ea typeface="Arial"/>
                <a:cs typeface="Arial"/>
                <a:sym typeface="Arial"/>
              </a:rPr>
              <a:t>Some countries (e.g., Dominican Republic) have minimal profits despite notable sales.</a:t>
            </a:r>
            <a:endParaRPr/>
          </a:p>
          <a:p>
            <a:pPr indent="0" lvl="0" marL="0" marR="0" rtl="0" algn="ctr">
              <a:lnSpc>
                <a:spcPct val="206913"/>
              </a:lnSpc>
              <a:spcBef>
                <a:spcPts val="0"/>
              </a:spcBef>
              <a:spcAft>
                <a:spcPts val="0"/>
              </a:spcAft>
              <a:buNone/>
            </a:pPr>
            <a:r>
              <a:t/>
            </a:r>
            <a:endParaRPr b="0" i="0" sz="2300" u="none" cap="none" strike="noStrike">
              <a:solidFill>
                <a:srgbClr val="000000"/>
              </a:solidFill>
              <a:latin typeface="Arial"/>
              <a:ea typeface="Arial"/>
              <a:cs typeface="Arial"/>
              <a:sym typeface="Arial"/>
            </a:endParaRPr>
          </a:p>
          <a:p>
            <a:pPr indent="0" lvl="0" marL="0" marR="0" rtl="0" algn="ctr">
              <a:lnSpc>
                <a:spcPct val="206913"/>
              </a:lnSpc>
              <a:spcBef>
                <a:spcPts val="0"/>
              </a:spcBef>
              <a:spcAft>
                <a:spcPts val="0"/>
              </a:spcAft>
              <a:buNone/>
            </a:pPr>
            <a:r>
              <a:t/>
            </a:r>
            <a:endParaRPr b="0" i="0" sz="2300" u="none" cap="none" strike="noStrike">
              <a:solidFill>
                <a:srgbClr val="000000"/>
              </a:solidFill>
              <a:latin typeface="Arial"/>
              <a:ea typeface="Arial"/>
              <a:cs typeface="Arial"/>
              <a:sym typeface="Arial"/>
            </a:endParaRPr>
          </a:p>
          <a:p>
            <a:pPr indent="0" lvl="0" marL="0" marR="0" rtl="0" algn="ctr">
              <a:lnSpc>
                <a:spcPct val="206913"/>
              </a:lnSpc>
              <a:spcBef>
                <a:spcPts val="0"/>
              </a:spcBef>
              <a:spcAft>
                <a:spcPts val="0"/>
              </a:spcAft>
              <a:buNone/>
            </a:pPr>
            <a:r>
              <a:t/>
            </a:r>
            <a:endParaRPr b="0" i="0" sz="2300" u="none" cap="none" strike="noStrike">
              <a:solidFill>
                <a:srgbClr val="000000"/>
              </a:solidFill>
              <a:latin typeface="Arial"/>
              <a:ea typeface="Arial"/>
              <a:cs typeface="Arial"/>
              <a:sym typeface="Arial"/>
            </a:endParaRPr>
          </a:p>
          <a:p>
            <a:pPr indent="0" lvl="0" marL="0" marR="0" rtl="0" algn="ctr">
              <a:lnSpc>
                <a:spcPct val="206913"/>
              </a:lnSpc>
              <a:spcBef>
                <a:spcPts val="0"/>
              </a:spcBef>
              <a:spcAft>
                <a:spcPts val="0"/>
              </a:spcAft>
              <a:buNone/>
            </a:pPr>
            <a:r>
              <a:t/>
            </a:r>
            <a:endParaRPr b="0" i="0" sz="2300" u="none" cap="none" strike="noStrike">
              <a:solidFill>
                <a:srgbClr val="000000"/>
              </a:solidFill>
              <a:latin typeface="Arial"/>
              <a:ea typeface="Arial"/>
              <a:cs typeface="Arial"/>
              <a:sym typeface="Arial"/>
            </a:endParaRPr>
          </a:p>
        </p:txBody>
      </p:sp>
      <p:sp>
        <p:nvSpPr>
          <p:cNvPr id="293" name="Google Shape;293;p8"/>
          <p:cNvSpPr txBox="1"/>
          <p:nvPr/>
        </p:nvSpPr>
        <p:spPr>
          <a:xfrm>
            <a:off x="6158274" y="880110"/>
            <a:ext cx="6746439" cy="49784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900" u="none" cap="none" strike="noStrike">
                <a:solidFill>
                  <a:srgbClr val="498E66"/>
                </a:solidFill>
                <a:latin typeface="Arial"/>
                <a:ea typeface="Arial"/>
                <a:cs typeface="Arial"/>
                <a:sym typeface="Arial"/>
              </a:rPr>
              <a:t>Top 10 Total Sales &amp; Profit by Country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9"/>
          <p:cNvSpPr/>
          <p:nvPr/>
        </p:nvSpPr>
        <p:spPr>
          <a:xfrm>
            <a:off x="132452" y="859273"/>
            <a:ext cx="14094904" cy="8868244"/>
          </a:xfrm>
          <a:custGeom>
            <a:rect b="b" l="l" r="r" t="t"/>
            <a:pathLst>
              <a:path extrusionOk="0" h="8868244" w="14094904">
                <a:moveTo>
                  <a:pt x="0" y="0"/>
                </a:moveTo>
                <a:lnTo>
                  <a:pt x="14094903" y="0"/>
                </a:lnTo>
                <a:lnTo>
                  <a:pt x="14094903" y="8868244"/>
                </a:lnTo>
                <a:lnTo>
                  <a:pt x="0" y="8868244"/>
                </a:lnTo>
                <a:lnTo>
                  <a:pt x="0" y="0"/>
                </a:lnTo>
                <a:close/>
              </a:path>
            </a:pathLst>
          </a:custGeom>
          <a:blipFill rotWithShape="1">
            <a:blip r:embed="rId3">
              <a:alphaModFix/>
            </a:blip>
            <a:stretch>
              <a:fillRect b="-350" l="0" r="-1038" t="-350"/>
            </a:stretch>
          </a:blipFill>
          <a:ln>
            <a:noFill/>
          </a:ln>
        </p:spPr>
      </p:sp>
      <p:sp>
        <p:nvSpPr>
          <p:cNvPr id="299" name="Google Shape;299;p9"/>
          <p:cNvSpPr txBox="1"/>
          <p:nvPr/>
        </p:nvSpPr>
        <p:spPr>
          <a:xfrm>
            <a:off x="4397261" y="132003"/>
            <a:ext cx="9493479" cy="5638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300" u="none" cap="none" strike="noStrike">
                <a:solidFill>
                  <a:srgbClr val="4E7C7D"/>
                </a:solidFill>
                <a:latin typeface="Arial"/>
                <a:ea typeface="Arial"/>
                <a:cs typeface="Arial"/>
                <a:sym typeface="Arial"/>
              </a:rPr>
              <a:t>Bottom 10 Total Sales &amp; Profit by Country</a:t>
            </a:r>
            <a:endParaRPr/>
          </a:p>
        </p:txBody>
      </p:sp>
      <p:sp>
        <p:nvSpPr>
          <p:cNvPr id="300" name="Google Shape;300;p9"/>
          <p:cNvSpPr/>
          <p:nvPr/>
        </p:nvSpPr>
        <p:spPr>
          <a:xfrm>
            <a:off x="11825172" y="2447706"/>
            <a:ext cx="6285584" cy="4133616"/>
          </a:xfrm>
          <a:custGeom>
            <a:rect b="b" l="l" r="r" t="t"/>
            <a:pathLst>
              <a:path extrusionOk="0" h="5003166" w="7607824">
                <a:moveTo>
                  <a:pt x="3803912" y="0"/>
                </a:moveTo>
                <a:cubicBezTo>
                  <a:pt x="1703069" y="0"/>
                  <a:pt x="0" y="1119997"/>
                  <a:pt x="0" y="2501583"/>
                </a:cubicBezTo>
                <a:cubicBezTo>
                  <a:pt x="0" y="3883170"/>
                  <a:pt x="1703069" y="5003166"/>
                  <a:pt x="3803912" y="5003166"/>
                </a:cubicBezTo>
                <a:cubicBezTo>
                  <a:pt x="5904754" y="5003166"/>
                  <a:pt x="7607824" y="3883170"/>
                  <a:pt x="7607824" y="2501583"/>
                </a:cubicBezTo>
                <a:cubicBezTo>
                  <a:pt x="7607824" y="1119997"/>
                  <a:pt x="5904754" y="0"/>
                  <a:pt x="3803912" y="0"/>
                </a:cubicBezTo>
                <a:close/>
              </a:path>
            </a:pathLst>
          </a:custGeom>
          <a:solidFill>
            <a:srgbClr val="9AC4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txBox="1"/>
          <p:nvPr/>
        </p:nvSpPr>
        <p:spPr>
          <a:xfrm>
            <a:off x="11962114" y="3095978"/>
            <a:ext cx="6026890" cy="43472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300" u="none" cap="none" strike="noStrike">
                <a:solidFill>
                  <a:srgbClr val="000000"/>
                </a:solidFill>
                <a:latin typeface="Arial"/>
                <a:ea typeface="Arial"/>
                <a:cs typeface="Arial"/>
                <a:sym typeface="Arial"/>
              </a:rPr>
              <a:t>Business Question:</a:t>
            </a:r>
            <a:endParaRPr/>
          </a:p>
          <a:p>
            <a:pPr indent="0" lvl="0" marL="0" marR="0" rtl="0" algn="ctr">
              <a:lnSpc>
                <a:spcPct val="140000"/>
              </a:lnSpc>
              <a:spcBef>
                <a:spcPts val="0"/>
              </a:spcBef>
              <a:spcAft>
                <a:spcPts val="0"/>
              </a:spcAft>
              <a:buNone/>
            </a:pPr>
            <a:r>
              <a:rPr b="1" i="0" lang="en-US" sz="2200" u="none" cap="none" strike="noStrike">
                <a:solidFill>
                  <a:srgbClr val="FFFFFF"/>
                </a:solidFill>
                <a:latin typeface="Arial"/>
                <a:ea typeface="Arial"/>
                <a:cs typeface="Arial"/>
                <a:sym typeface="Arial"/>
              </a:rPr>
              <a:t>Which countries generate the Lowest sales and profit?</a:t>
            </a:r>
            <a:endParaRPr/>
          </a:p>
          <a:p>
            <a:pPr indent="0" lvl="0" marL="0" marR="0" rtl="0" algn="ctr">
              <a:lnSpc>
                <a:spcPct val="140000"/>
              </a:lnSpc>
              <a:spcBef>
                <a:spcPts val="0"/>
              </a:spcBef>
              <a:spcAft>
                <a:spcPts val="0"/>
              </a:spcAft>
              <a:buNone/>
            </a:pPr>
            <a:r>
              <a:t/>
            </a:r>
            <a:endParaRPr b="1" i="0" sz="2200" u="none" cap="none" strike="noStrike">
              <a:solidFill>
                <a:srgbClr val="FFFFFF"/>
              </a:solidFill>
              <a:latin typeface="Arial"/>
              <a:ea typeface="Arial"/>
              <a:cs typeface="Arial"/>
              <a:sym typeface="Arial"/>
            </a:endParaRPr>
          </a:p>
          <a:p>
            <a:pPr indent="-108588" lvl="1" marL="496575" marR="0" rtl="0" algn="ctr">
              <a:lnSpc>
                <a:spcPct val="146363"/>
              </a:lnSpc>
              <a:spcBef>
                <a:spcPts val="0"/>
              </a:spcBef>
              <a:spcAft>
                <a:spcPts val="0"/>
              </a:spcAft>
              <a:buClr>
                <a:schemeClr val="dk1"/>
              </a:buClr>
              <a:buSzPts val="2200"/>
              <a:buFont typeface="Arial"/>
              <a:buNone/>
            </a:pPr>
            <a:r>
              <a:t/>
            </a:r>
            <a:endParaRPr b="1" i="0" sz="2200" u="none" cap="none" strike="noStrike">
              <a:solidFill>
                <a:srgbClr val="FFFFFF"/>
              </a:solidFill>
              <a:latin typeface="Arial"/>
              <a:ea typeface="Arial"/>
              <a:cs typeface="Arial"/>
              <a:sym typeface="Arial"/>
            </a:endParaRPr>
          </a:p>
          <a:p>
            <a:pPr indent="0" lvl="0" marL="0" marR="0" rtl="0" algn="ctr">
              <a:lnSpc>
                <a:spcPct val="216318"/>
              </a:lnSpc>
              <a:spcBef>
                <a:spcPts val="0"/>
              </a:spcBef>
              <a:spcAft>
                <a:spcPts val="0"/>
              </a:spcAft>
              <a:buNone/>
            </a:pPr>
            <a:r>
              <a:t/>
            </a:r>
            <a:endParaRPr b="1" i="0" sz="2200" u="none" cap="none" strike="noStrike">
              <a:solidFill>
                <a:srgbClr val="FFFFFF"/>
              </a:solidFill>
              <a:latin typeface="Arial"/>
              <a:ea typeface="Arial"/>
              <a:cs typeface="Arial"/>
              <a:sym typeface="Arial"/>
            </a:endParaRPr>
          </a:p>
          <a:p>
            <a:pPr indent="0" lvl="0" marL="0" marR="0" rtl="0" algn="ctr">
              <a:lnSpc>
                <a:spcPct val="216318"/>
              </a:lnSpc>
              <a:spcBef>
                <a:spcPts val="0"/>
              </a:spcBef>
              <a:spcAft>
                <a:spcPts val="0"/>
              </a:spcAft>
              <a:buNone/>
            </a:pPr>
            <a:r>
              <a:t/>
            </a:r>
            <a:endParaRPr b="1" i="0" sz="2200" u="none" cap="none" strike="noStrike">
              <a:solidFill>
                <a:srgbClr val="FFFFFF"/>
              </a:solidFill>
              <a:latin typeface="Arial"/>
              <a:ea typeface="Arial"/>
              <a:cs typeface="Arial"/>
              <a:sym typeface="Arial"/>
            </a:endParaRPr>
          </a:p>
          <a:p>
            <a:pPr indent="0" lvl="0" marL="0" marR="0" rtl="0" algn="ctr">
              <a:lnSpc>
                <a:spcPct val="216318"/>
              </a:lnSpc>
              <a:spcBef>
                <a:spcPts val="0"/>
              </a:spcBef>
              <a:spcAft>
                <a:spcPts val="0"/>
              </a:spcAft>
              <a:buNone/>
            </a:pPr>
            <a:r>
              <a:t/>
            </a:r>
            <a:endParaRPr b="1" i="0" sz="2200" u="none" cap="none" strike="noStrike">
              <a:solidFill>
                <a:srgbClr val="FFFFFF"/>
              </a:solidFill>
              <a:latin typeface="Arial"/>
              <a:ea typeface="Arial"/>
              <a:cs typeface="Arial"/>
              <a:sym typeface="Arial"/>
            </a:endParaRPr>
          </a:p>
          <a:p>
            <a:pPr indent="0" lvl="0" marL="0" marR="0" rtl="0" algn="ctr">
              <a:lnSpc>
                <a:spcPct val="216318"/>
              </a:lnSpc>
              <a:spcBef>
                <a:spcPts val="0"/>
              </a:spcBef>
              <a:spcAft>
                <a:spcPts val="0"/>
              </a:spcAft>
              <a:buNone/>
            </a:pPr>
            <a:r>
              <a:t/>
            </a:r>
            <a:endParaRPr b="1" i="0" sz="2200" u="none" cap="none" strike="noStrike">
              <a:solidFill>
                <a:srgbClr val="FFFFFF"/>
              </a:solidFill>
              <a:latin typeface="Arial"/>
              <a:ea typeface="Arial"/>
              <a:cs typeface="Arial"/>
              <a:sym typeface="Arial"/>
            </a:endParaRPr>
          </a:p>
        </p:txBody>
      </p:sp>
      <p:sp>
        <p:nvSpPr>
          <p:cNvPr id="302" name="Google Shape;302;p9"/>
          <p:cNvSpPr txBox="1"/>
          <p:nvPr/>
        </p:nvSpPr>
        <p:spPr>
          <a:xfrm>
            <a:off x="12326356" y="4474880"/>
            <a:ext cx="5298300" cy="1403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400" u="none" cap="none" strike="noStrike">
                <a:solidFill>
                  <a:srgbClr val="545454"/>
                </a:solidFill>
                <a:latin typeface="Calibri"/>
                <a:ea typeface="Calibri"/>
                <a:cs typeface="Calibri"/>
                <a:sym typeface="Calibri"/>
              </a:rPr>
              <a:t>Bottom 10 Countries: Honduras, Panama, and Argentina show significant negative profits despite sales</a:t>
            </a:r>
            <a:endParaRPr sz="15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1"/>
          <p:cNvSpPr/>
          <p:nvPr/>
        </p:nvSpPr>
        <p:spPr>
          <a:xfrm>
            <a:off x="5953712" y="3540899"/>
            <a:ext cx="11866418" cy="1019749"/>
          </a:xfrm>
          <a:prstGeom prst="rect">
            <a:avLst/>
          </a:prstGeom>
          <a:solidFill>
            <a:srgbClr val="C1FF72">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8" name="Google Shape;308;p11"/>
          <p:cNvGrpSpPr/>
          <p:nvPr/>
        </p:nvGrpSpPr>
        <p:grpSpPr>
          <a:xfrm>
            <a:off x="988326" y="3540899"/>
            <a:ext cx="5527264" cy="1020920"/>
            <a:chOff x="0" y="0"/>
            <a:chExt cx="5907902" cy="1107440"/>
          </a:xfrm>
        </p:grpSpPr>
        <p:sp>
          <p:nvSpPr>
            <p:cNvPr id="309" name="Google Shape;309;p11"/>
            <p:cNvSpPr/>
            <p:nvPr/>
          </p:nvSpPr>
          <p:spPr>
            <a:xfrm>
              <a:off x="0" y="0"/>
              <a:ext cx="5907902" cy="1107440"/>
            </a:xfrm>
            <a:custGeom>
              <a:rect b="b" l="l" r="r" t="t"/>
              <a:pathLst>
                <a:path extrusionOk="0" h="1107440" w="5907902">
                  <a:moveTo>
                    <a:pt x="5906632" y="0"/>
                  </a:moveTo>
                  <a:lnTo>
                    <a:pt x="553720" y="0"/>
                  </a:lnTo>
                  <a:cubicBezTo>
                    <a:pt x="247650" y="0"/>
                    <a:pt x="0" y="247650"/>
                    <a:pt x="0" y="553720"/>
                  </a:cubicBezTo>
                  <a:cubicBezTo>
                    <a:pt x="0" y="859790"/>
                    <a:pt x="247650" y="1107440"/>
                    <a:pt x="553720" y="1107440"/>
                  </a:cubicBezTo>
                  <a:lnTo>
                    <a:pt x="5907902" y="1107440"/>
                  </a:lnTo>
                  <a:lnTo>
                    <a:pt x="5907902" y="0"/>
                  </a:lnTo>
                  <a:close/>
                </a:path>
              </a:pathLst>
            </a:custGeom>
            <a:solidFill>
              <a:srgbClr val="2E64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144174" y="172686"/>
              <a:ext cx="796232" cy="762069"/>
            </a:xfrm>
            <a:custGeom>
              <a:rect b="b" l="l" r="r" t="t"/>
              <a:pathLst>
                <a:path extrusionOk="0" h="762069" w="796232">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 name="Google Shape;311;p11"/>
          <p:cNvSpPr/>
          <p:nvPr/>
        </p:nvSpPr>
        <p:spPr>
          <a:xfrm>
            <a:off x="6216068" y="4836368"/>
            <a:ext cx="11604062" cy="1019749"/>
          </a:xfrm>
          <a:prstGeom prst="rect">
            <a:avLst/>
          </a:prstGeom>
          <a:solidFill>
            <a:srgbClr val="C1FF72">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 name="Google Shape;312;p11"/>
          <p:cNvGrpSpPr/>
          <p:nvPr/>
        </p:nvGrpSpPr>
        <p:grpSpPr>
          <a:xfrm>
            <a:off x="988326" y="4836368"/>
            <a:ext cx="5527264" cy="1020920"/>
            <a:chOff x="0" y="0"/>
            <a:chExt cx="5907902" cy="1107440"/>
          </a:xfrm>
        </p:grpSpPr>
        <p:sp>
          <p:nvSpPr>
            <p:cNvPr id="313" name="Google Shape;313;p11"/>
            <p:cNvSpPr/>
            <p:nvPr/>
          </p:nvSpPr>
          <p:spPr>
            <a:xfrm>
              <a:off x="0" y="0"/>
              <a:ext cx="5907902" cy="1107440"/>
            </a:xfrm>
            <a:custGeom>
              <a:rect b="b" l="l" r="r" t="t"/>
              <a:pathLst>
                <a:path extrusionOk="0" h="1107440" w="5907902">
                  <a:moveTo>
                    <a:pt x="5906632" y="0"/>
                  </a:moveTo>
                  <a:lnTo>
                    <a:pt x="553720" y="0"/>
                  </a:lnTo>
                  <a:cubicBezTo>
                    <a:pt x="247650" y="0"/>
                    <a:pt x="0" y="247650"/>
                    <a:pt x="0" y="553720"/>
                  </a:cubicBezTo>
                  <a:cubicBezTo>
                    <a:pt x="0" y="859790"/>
                    <a:pt x="247650" y="1107440"/>
                    <a:pt x="553720" y="1107440"/>
                  </a:cubicBezTo>
                  <a:lnTo>
                    <a:pt x="5907902" y="1107440"/>
                  </a:lnTo>
                  <a:lnTo>
                    <a:pt x="5907902" y="0"/>
                  </a:lnTo>
                  <a:close/>
                </a:path>
              </a:pathLst>
            </a:custGeom>
            <a:solidFill>
              <a:srgbClr val="4CA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144174" y="172686"/>
              <a:ext cx="796232" cy="762069"/>
            </a:xfrm>
            <a:custGeom>
              <a:rect b="b" l="l" r="r" t="t"/>
              <a:pathLst>
                <a:path extrusionOk="0" h="762069" w="796232">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11"/>
          <p:cNvSpPr txBox="1"/>
          <p:nvPr/>
        </p:nvSpPr>
        <p:spPr>
          <a:xfrm>
            <a:off x="2400110" y="6187773"/>
            <a:ext cx="3477250" cy="3429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99" u="none" cap="none" strike="noStrike">
                <a:solidFill>
                  <a:srgbClr val="FFFFFF"/>
                </a:solidFill>
                <a:latin typeface="Arial"/>
                <a:ea typeface="Arial"/>
                <a:cs typeface="Arial"/>
                <a:sym typeface="Arial"/>
              </a:rPr>
              <a:t>Corporate</a:t>
            </a:r>
            <a:endParaRPr/>
          </a:p>
        </p:txBody>
      </p:sp>
      <p:sp>
        <p:nvSpPr>
          <p:cNvPr id="316" name="Google Shape;316;p11"/>
          <p:cNvSpPr/>
          <p:nvPr/>
        </p:nvSpPr>
        <p:spPr>
          <a:xfrm>
            <a:off x="5777596" y="6294267"/>
            <a:ext cx="12042534" cy="1019749"/>
          </a:xfrm>
          <a:prstGeom prst="rect">
            <a:avLst/>
          </a:prstGeom>
          <a:solidFill>
            <a:srgbClr val="C1FF72">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11"/>
          <p:cNvGrpSpPr/>
          <p:nvPr/>
        </p:nvGrpSpPr>
        <p:grpSpPr>
          <a:xfrm>
            <a:off x="988326" y="6275217"/>
            <a:ext cx="5527264" cy="1020920"/>
            <a:chOff x="0" y="0"/>
            <a:chExt cx="5907902" cy="1107440"/>
          </a:xfrm>
        </p:grpSpPr>
        <p:sp>
          <p:nvSpPr>
            <p:cNvPr id="318" name="Google Shape;318;p11"/>
            <p:cNvSpPr/>
            <p:nvPr/>
          </p:nvSpPr>
          <p:spPr>
            <a:xfrm>
              <a:off x="0" y="0"/>
              <a:ext cx="5907902" cy="1107440"/>
            </a:xfrm>
            <a:custGeom>
              <a:rect b="b" l="l" r="r" t="t"/>
              <a:pathLst>
                <a:path extrusionOk="0" h="1107440" w="5907902">
                  <a:moveTo>
                    <a:pt x="5906632" y="0"/>
                  </a:moveTo>
                  <a:lnTo>
                    <a:pt x="553720" y="0"/>
                  </a:lnTo>
                  <a:cubicBezTo>
                    <a:pt x="247650" y="0"/>
                    <a:pt x="0" y="247650"/>
                    <a:pt x="0" y="553720"/>
                  </a:cubicBezTo>
                  <a:cubicBezTo>
                    <a:pt x="0" y="859790"/>
                    <a:pt x="247650" y="1107440"/>
                    <a:pt x="553720" y="1107440"/>
                  </a:cubicBezTo>
                  <a:lnTo>
                    <a:pt x="5907902" y="1107440"/>
                  </a:lnTo>
                  <a:lnTo>
                    <a:pt x="5907902" y="0"/>
                  </a:lnTo>
                  <a:close/>
                </a:path>
              </a:pathLst>
            </a:custGeom>
            <a:solidFill>
              <a:srgbClr val="99E1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144174" y="172686"/>
              <a:ext cx="796232" cy="762069"/>
            </a:xfrm>
            <a:custGeom>
              <a:rect b="b" l="l" r="r" t="t"/>
              <a:pathLst>
                <a:path extrusionOk="0" h="762069" w="796232">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11"/>
          <p:cNvSpPr txBox="1"/>
          <p:nvPr/>
        </p:nvSpPr>
        <p:spPr>
          <a:xfrm>
            <a:off x="2053113" y="6637454"/>
            <a:ext cx="3477250" cy="3238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100" u="none" cap="none" strike="noStrike">
                <a:solidFill>
                  <a:srgbClr val="FFFFFF"/>
                </a:solidFill>
                <a:latin typeface="Arial"/>
                <a:ea typeface="Arial"/>
                <a:cs typeface="Arial"/>
                <a:sym typeface="Arial"/>
              </a:rPr>
              <a:t>Home Office</a:t>
            </a:r>
            <a:endParaRPr/>
          </a:p>
        </p:txBody>
      </p:sp>
      <p:sp>
        <p:nvSpPr>
          <p:cNvPr id="321" name="Google Shape;321;p11"/>
          <p:cNvSpPr/>
          <p:nvPr/>
        </p:nvSpPr>
        <p:spPr>
          <a:xfrm>
            <a:off x="4029788" y="7228466"/>
            <a:ext cx="10108005" cy="3361743"/>
          </a:xfrm>
          <a:custGeom>
            <a:rect b="b" l="l" r="r" t="t"/>
            <a:pathLst>
              <a:path extrusionOk="0" h="4068922" w="12234332">
                <a:moveTo>
                  <a:pt x="6117166" y="0"/>
                </a:moveTo>
                <a:cubicBezTo>
                  <a:pt x="2738748" y="0"/>
                  <a:pt x="0" y="910859"/>
                  <a:pt x="0" y="2034461"/>
                </a:cubicBezTo>
                <a:cubicBezTo>
                  <a:pt x="0" y="3158063"/>
                  <a:pt x="2738748" y="4068922"/>
                  <a:pt x="6117166" y="4068922"/>
                </a:cubicBezTo>
                <a:cubicBezTo>
                  <a:pt x="9495583" y="4068922"/>
                  <a:pt x="12234331" y="3158063"/>
                  <a:pt x="12234331" y="2034461"/>
                </a:cubicBezTo>
                <a:cubicBezTo>
                  <a:pt x="12234331" y="910859"/>
                  <a:pt x="9495583" y="0"/>
                  <a:pt x="6117166" y="0"/>
                </a:cubicBezTo>
                <a:close/>
              </a:path>
            </a:pathLst>
          </a:custGeom>
          <a:solidFill>
            <a:srgbClr val="9AC4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1301525" y="5063569"/>
            <a:ext cx="524360" cy="565347"/>
          </a:xfrm>
          <a:custGeom>
            <a:rect b="b" l="l" r="r" t="t"/>
            <a:pathLst>
              <a:path extrusionOk="0" h="565347" w="524360">
                <a:moveTo>
                  <a:pt x="0" y="0"/>
                </a:moveTo>
                <a:lnTo>
                  <a:pt x="524359" y="0"/>
                </a:lnTo>
                <a:lnTo>
                  <a:pt x="524359" y="565347"/>
                </a:lnTo>
                <a:lnTo>
                  <a:pt x="0" y="565347"/>
                </a:lnTo>
                <a:lnTo>
                  <a:pt x="0" y="0"/>
                </a:lnTo>
                <a:close/>
              </a:path>
            </a:pathLst>
          </a:custGeom>
          <a:blipFill rotWithShape="1">
            <a:blip r:embed="rId3">
              <a:alphaModFix/>
            </a:blip>
            <a:stretch>
              <a:fillRect b="0" l="0" r="0" t="0"/>
            </a:stretch>
          </a:blipFill>
          <a:ln>
            <a:noFill/>
          </a:ln>
        </p:spPr>
      </p:sp>
      <p:sp>
        <p:nvSpPr>
          <p:cNvPr id="323" name="Google Shape;323;p11"/>
          <p:cNvSpPr/>
          <p:nvPr/>
        </p:nvSpPr>
        <p:spPr>
          <a:xfrm>
            <a:off x="1169984" y="3774769"/>
            <a:ext cx="605769" cy="552007"/>
          </a:xfrm>
          <a:custGeom>
            <a:rect b="b" l="l" r="r" t="t"/>
            <a:pathLst>
              <a:path extrusionOk="0" h="552007" w="605769">
                <a:moveTo>
                  <a:pt x="0" y="0"/>
                </a:moveTo>
                <a:lnTo>
                  <a:pt x="605769" y="0"/>
                </a:lnTo>
                <a:lnTo>
                  <a:pt x="605769" y="552008"/>
                </a:lnTo>
                <a:lnTo>
                  <a:pt x="0" y="552008"/>
                </a:lnTo>
                <a:lnTo>
                  <a:pt x="0" y="0"/>
                </a:lnTo>
                <a:close/>
              </a:path>
            </a:pathLst>
          </a:custGeom>
          <a:blipFill rotWithShape="1">
            <a:blip r:embed="rId4">
              <a:alphaModFix/>
            </a:blip>
            <a:stretch>
              <a:fillRect b="0" l="0" r="0" t="0"/>
            </a:stretch>
          </a:blipFill>
          <a:ln>
            <a:noFill/>
          </a:ln>
        </p:spPr>
      </p:sp>
      <p:sp>
        <p:nvSpPr>
          <p:cNvPr id="324" name="Google Shape;324;p11"/>
          <p:cNvSpPr/>
          <p:nvPr/>
        </p:nvSpPr>
        <p:spPr>
          <a:xfrm>
            <a:off x="1251675" y="6557692"/>
            <a:ext cx="553788" cy="454799"/>
          </a:xfrm>
          <a:custGeom>
            <a:rect b="b" l="l" r="r" t="t"/>
            <a:pathLst>
              <a:path extrusionOk="0" h="454799" w="553788">
                <a:moveTo>
                  <a:pt x="0" y="0"/>
                </a:moveTo>
                <a:lnTo>
                  <a:pt x="553788" y="0"/>
                </a:lnTo>
                <a:lnTo>
                  <a:pt x="553788" y="454798"/>
                </a:lnTo>
                <a:lnTo>
                  <a:pt x="0" y="454798"/>
                </a:lnTo>
                <a:lnTo>
                  <a:pt x="0" y="0"/>
                </a:lnTo>
                <a:close/>
              </a:path>
            </a:pathLst>
          </a:custGeom>
          <a:blipFill rotWithShape="1">
            <a:blip r:embed="rId5">
              <a:alphaModFix/>
            </a:blip>
            <a:stretch>
              <a:fillRect b="0" l="0" r="0" t="0"/>
            </a:stretch>
          </a:blipFill>
          <a:ln>
            <a:noFill/>
          </a:ln>
        </p:spPr>
      </p:sp>
      <p:sp>
        <p:nvSpPr>
          <p:cNvPr id="325" name="Google Shape;325;p11"/>
          <p:cNvSpPr txBox="1"/>
          <p:nvPr/>
        </p:nvSpPr>
        <p:spPr>
          <a:xfrm>
            <a:off x="2128178" y="3924063"/>
            <a:ext cx="3477250" cy="3429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299" u="none" cap="none" strike="noStrike">
                <a:solidFill>
                  <a:srgbClr val="FFFFFF"/>
                </a:solidFill>
                <a:latin typeface="Arial"/>
                <a:ea typeface="Arial"/>
                <a:cs typeface="Arial"/>
                <a:sym typeface="Arial"/>
              </a:rPr>
              <a:t>Consumer</a:t>
            </a:r>
            <a:endParaRPr/>
          </a:p>
        </p:txBody>
      </p:sp>
      <p:sp>
        <p:nvSpPr>
          <p:cNvPr id="326" name="Google Shape;326;p11"/>
          <p:cNvSpPr txBox="1"/>
          <p:nvPr/>
        </p:nvSpPr>
        <p:spPr>
          <a:xfrm>
            <a:off x="2053113" y="5108335"/>
            <a:ext cx="3477250" cy="3238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FFFFFF"/>
                </a:solidFill>
                <a:latin typeface="Arial"/>
                <a:ea typeface="Arial"/>
                <a:cs typeface="Arial"/>
                <a:sym typeface="Arial"/>
              </a:rPr>
              <a:t>Customer Satisfaction</a:t>
            </a:r>
            <a:endParaRPr/>
          </a:p>
        </p:txBody>
      </p:sp>
      <p:grpSp>
        <p:nvGrpSpPr>
          <p:cNvPr id="327" name="Google Shape;327;p11"/>
          <p:cNvGrpSpPr/>
          <p:nvPr/>
        </p:nvGrpSpPr>
        <p:grpSpPr>
          <a:xfrm>
            <a:off x="3791738" y="516054"/>
            <a:ext cx="12843911" cy="1046965"/>
            <a:chOff x="0" y="-38100"/>
            <a:chExt cx="17125214" cy="1395954"/>
          </a:xfrm>
        </p:grpSpPr>
        <p:sp>
          <p:nvSpPr>
            <p:cNvPr id="328" name="Google Shape;328;p11"/>
            <p:cNvSpPr txBox="1"/>
            <p:nvPr/>
          </p:nvSpPr>
          <p:spPr>
            <a:xfrm>
              <a:off x="0" y="-38100"/>
              <a:ext cx="17125214" cy="724069"/>
            </a:xfrm>
            <a:prstGeom prst="rect">
              <a:avLst/>
            </a:prstGeom>
            <a:noFill/>
            <a:ln>
              <a:noFill/>
            </a:ln>
          </p:spPr>
          <p:txBody>
            <a:bodyPr anchorCtr="0" anchor="t" bIns="0" lIns="0" spcFirstLastPara="1" rIns="0" wrap="square" tIns="0">
              <a:spAutoFit/>
            </a:bodyPr>
            <a:lstStyle/>
            <a:p>
              <a:pPr indent="0" lvl="0" marL="0" marR="0" rtl="0" algn="ctr">
                <a:lnSpc>
                  <a:spcPct val="131000"/>
                </a:lnSpc>
                <a:spcBef>
                  <a:spcPts val="0"/>
                </a:spcBef>
                <a:spcAft>
                  <a:spcPts val="0"/>
                </a:spcAft>
                <a:buNone/>
              </a:pPr>
              <a:r>
                <a:rPr b="1" i="0" lang="en-US" sz="3400" u="none" cap="none" strike="noStrike">
                  <a:solidFill>
                    <a:srgbClr val="4E7C7D"/>
                  </a:solidFill>
                  <a:latin typeface="Arial"/>
                  <a:ea typeface="Arial"/>
                  <a:cs typeface="Arial"/>
                  <a:sym typeface="Arial"/>
                </a:rPr>
                <a:t>Segment Performance Comparison – Profitability &amp; Sales</a:t>
              </a:r>
              <a:endParaRPr/>
            </a:p>
          </p:txBody>
        </p:sp>
        <p:sp>
          <p:nvSpPr>
            <p:cNvPr id="329" name="Google Shape;329;p11"/>
            <p:cNvSpPr txBox="1"/>
            <p:nvPr/>
          </p:nvSpPr>
          <p:spPr>
            <a:xfrm>
              <a:off x="900999" y="929229"/>
              <a:ext cx="15323216" cy="4286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0" name="Google Shape;330;p11"/>
          <p:cNvSpPr txBox="1"/>
          <p:nvPr/>
        </p:nvSpPr>
        <p:spPr>
          <a:xfrm>
            <a:off x="7101251" y="3825058"/>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191919"/>
                </a:solidFill>
                <a:latin typeface="Arial"/>
                <a:ea typeface="Arial"/>
                <a:cs typeface="Arial"/>
                <a:sym typeface="Arial"/>
              </a:rPr>
              <a:t>$17.11bn</a:t>
            </a:r>
            <a:endParaRPr/>
          </a:p>
        </p:txBody>
      </p:sp>
      <p:sp>
        <p:nvSpPr>
          <p:cNvPr id="331" name="Google Shape;331;p11"/>
          <p:cNvSpPr txBox="1"/>
          <p:nvPr/>
        </p:nvSpPr>
        <p:spPr>
          <a:xfrm>
            <a:off x="6663811" y="5336717"/>
            <a:ext cx="2317506"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$9.29bn</a:t>
            </a:r>
            <a:endParaRPr/>
          </a:p>
        </p:txBody>
      </p:sp>
      <p:sp>
        <p:nvSpPr>
          <p:cNvPr id="332" name="Google Shape;332;p11"/>
          <p:cNvSpPr txBox="1"/>
          <p:nvPr/>
        </p:nvSpPr>
        <p:spPr>
          <a:xfrm>
            <a:off x="7017944" y="6560967"/>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$5.56bn</a:t>
            </a:r>
            <a:endParaRPr/>
          </a:p>
        </p:txBody>
      </p:sp>
      <p:sp>
        <p:nvSpPr>
          <p:cNvPr id="333" name="Google Shape;333;p11"/>
          <p:cNvSpPr txBox="1"/>
          <p:nvPr/>
        </p:nvSpPr>
        <p:spPr>
          <a:xfrm>
            <a:off x="9830740" y="3726923"/>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191919"/>
                </a:solidFill>
                <a:latin typeface="Arial"/>
                <a:ea typeface="Arial"/>
                <a:cs typeface="Arial"/>
                <a:sym typeface="Arial"/>
              </a:rPr>
              <a:t>$2.35bn</a:t>
            </a:r>
            <a:endParaRPr/>
          </a:p>
        </p:txBody>
      </p:sp>
      <p:sp>
        <p:nvSpPr>
          <p:cNvPr id="334" name="Google Shape;334;p11"/>
          <p:cNvSpPr txBox="1"/>
          <p:nvPr/>
        </p:nvSpPr>
        <p:spPr>
          <a:xfrm>
            <a:off x="9716853" y="5179555"/>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$1.57bn</a:t>
            </a:r>
            <a:endParaRPr/>
          </a:p>
        </p:txBody>
      </p:sp>
      <p:sp>
        <p:nvSpPr>
          <p:cNvPr id="335" name="Google Shape;335;p11"/>
          <p:cNvSpPr txBox="1"/>
          <p:nvPr/>
        </p:nvSpPr>
        <p:spPr>
          <a:xfrm>
            <a:off x="9723260" y="6560967"/>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$0.66bn</a:t>
            </a:r>
            <a:endParaRPr/>
          </a:p>
        </p:txBody>
      </p:sp>
      <p:sp>
        <p:nvSpPr>
          <p:cNvPr id="336" name="Google Shape;336;p11"/>
          <p:cNvSpPr txBox="1"/>
          <p:nvPr/>
        </p:nvSpPr>
        <p:spPr>
          <a:xfrm>
            <a:off x="12428575" y="3726923"/>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4.52%</a:t>
            </a:r>
            <a:endParaRPr/>
          </a:p>
        </p:txBody>
      </p:sp>
      <p:sp>
        <p:nvSpPr>
          <p:cNvPr id="337" name="Google Shape;337;p11"/>
          <p:cNvSpPr txBox="1"/>
          <p:nvPr/>
        </p:nvSpPr>
        <p:spPr>
          <a:xfrm>
            <a:off x="12428575" y="5093631"/>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$4.01%</a:t>
            </a:r>
            <a:endParaRPr/>
          </a:p>
        </p:txBody>
      </p:sp>
      <p:sp>
        <p:nvSpPr>
          <p:cNvPr id="338" name="Google Shape;338;p11"/>
          <p:cNvSpPr txBox="1"/>
          <p:nvPr/>
        </p:nvSpPr>
        <p:spPr>
          <a:xfrm>
            <a:off x="12428575" y="6521148"/>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4.53</a:t>
            </a:r>
            <a:endParaRPr/>
          </a:p>
        </p:txBody>
      </p:sp>
      <p:sp>
        <p:nvSpPr>
          <p:cNvPr id="339" name="Google Shape;339;p11"/>
          <p:cNvSpPr txBox="1"/>
          <p:nvPr/>
        </p:nvSpPr>
        <p:spPr>
          <a:xfrm>
            <a:off x="15026411" y="3726923"/>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13.71%</a:t>
            </a:r>
            <a:endParaRPr/>
          </a:p>
        </p:txBody>
      </p:sp>
      <p:sp>
        <p:nvSpPr>
          <p:cNvPr id="340" name="Google Shape;340;p11"/>
          <p:cNvSpPr txBox="1"/>
          <p:nvPr/>
        </p:nvSpPr>
        <p:spPr>
          <a:xfrm>
            <a:off x="15142713" y="5093631"/>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$16.87%</a:t>
            </a:r>
            <a:endParaRPr/>
          </a:p>
        </p:txBody>
      </p:sp>
      <p:sp>
        <p:nvSpPr>
          <p:cNvPr id="341" name="Google Shape;341;p11"/>
          <p:cNvSpPr txBox="1"/>
          <p:nvPr/>
        </p:nvSpPr>
        <p:spPr>
          <a:xfrm>
            <a:off x="15202823" y="6461241"/>
            <a:ext cx="1609238"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191919"/>
                </a:solidFill>
                <a:latin typeface="Arial"/>
                <a:ea typeface="Arial"/>
                <a:cs typeface="Arial"/>
                <a:sym typeface="Arial"/>
              </a:rPr>
              <a:t>11.91%</a:t>
            </a:r>
            <a:endParaRPr/>
          </a:p>
        </p:txBody>
      </p:sp>
      <p:sp>
        <p:nvSpPr>
          <p:cNvPr id="342" name="Google Shape;342;p11"/>
          <p:cNvSpPr txBox="1"/>
          <p:nvPr/>
        </p:nvSpPr>
        <p:spPr>
          <a:xfrm>
            <a:off x="1367408" y="2762026"/>
            <a:ext cx="4848660" cy="36195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2399" u="none" cap="none" strike="noStrike">
                <a:solidFill>
                  <a:srgbClr val="191919"/>
                </a:solidFill>
                <a:latin typeface="Arial"/>
                <a:ea typeface="Arial"/>
                <a:cs typeface="Arial"/>
                <a:sym typeface="Arial"/>
              </a:rPr>
              <a:t>Segments</a:t>
            </a:r>
            <a:endParaRPr/>
          </a:p>
        </p:txBody>
      </p:sp>
      <p:sp>
        <p:nvSpPr>
          <p:cNvPr id="343" name="Google Shape;343;p11"/>
          <p:cNvSpPr txBox="1"/>
          <p:nvPr/>
        </p:nvSpPr>
        <p:spPr>
          <a:xfrm>
            <a:off x="6830424" y="2800126"/>
            <a:ext cx="2150892"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191919"/>
                </a:solidFill>
                <a:latin typeface="Arial"/>
                <a:ea typeface="Arial"/>
                <a:cs typeface="Arial"/>
                <a:sym typeface="Arial"/>
              </a:rPr>
              <a:t>Total Sales</a:t>
            </a:r>
            <a:endParaRPr/>
          </a:p>
        </p:txBody>
      </p:sp>
      <p:sp>
        <p:nvSpPr>
          <p:cNvPr id="344" name="Google Shape;344;p11"/>
          <p:cNvSpPr txBox="1"/>
          <p:nvPr/>
        </p:nvSpPr>
        <p:spPr>
          <a:xfrm>
            <a:off x="9559913" y="2776313"/>
            <a:ext cx="2150892"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191919"/>
                </a:solidFill>
                <a:latin typeface="Arial"/>
                <a:ea typeface="Arial"/>
                <a:cs typeface="Arial"/>
                <a:sym typeface="Arial"/>
              </a:rPr>
              <a:t>Total Profits</a:t>
            </a:r>
            <a:endParaRPr/>
          </a:p>
        </p:txBody>
      </p:sp>
      <p:sp>
        <p:nvSpPr>
          <p:cNvPr id="345" name="Google Shape;345;p11"/>
          <p:cNvSpPr txBox="1"/>
          <p:nvPr/>
        </p:nvSpPr>
        <p:spPr>
          <a:xfrm>
            <a:off x="11886921" y="2800126"/>
            <a:ext cx="2150892"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191919"/>
                </a:solidFill>
                <a:latin typeface="Arial"/>
                <a:ea typeface="Arial"/>
                <a:cs typeface="Arial"/>
                <a:sym typeface="Arial"/>
              </a:rPr>
              <a:t>Avg.Discount%</a:t>
            </a:r>
            <a:endParaRPr/>
          </a:p>
        </p:txBody>
      </p:sp>
      <p:sp>
        <p:nvSpPr>
          <p:cNvPr id="346" name="Google Shape;346;p11"/>
          <p:cNvSpPr txBox="1"/>
          <p:nvPr/>
        </p:nvSpPr>
        <p:spPr>
          <a:xfrm>
            <a:off x="14755583" y="2752501"/>
            <a:ext cx="2503717" cy="323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191919"/>
                </a:solidFill>
                <a:latin typeface="Arial"/>
                <a:ea typeface="Arial"/>
                <a:cs typeface="Arial"/>
                <a:sym typeface="Arial"/>
              </a:rPr>
              <a:t>Avg.Profit Margin%</a:t>
            </a:r>
            <a:endParaRPr/>
          </a:p>
        </p:txBody>
      </p:sp>
      <p:sp>
        <p:nvSpPr>
          <p:cNvPr id="347" name="Google Shape;347;p11"/>
          <p:cNvSpPr txBox="1"/>
          <p:nvPr/>
        </p:nvSpPr>
        <p:spPr>
          <a:xfrm>
            <a:off x="6636159" y="7857751"/>
            <a:ext cx="5792400" cy="849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300" u="none" cap="none" strike="noStrike">
                <a:solidFill>
                  <a:srgbClr val="FEFEFE"/>
                </a:solidFill>
                <a:latin typeface="Calibri"/>
                <a:ea typeface="Calibri"/>
                <a:cs typeface="Calibri"/>
                <a:sym typeface="Calibri"/>
              </a:rPr>
              <a:t>How do different customer segments perform in terms of sales and profit?</a:t>
            </a:r>
            <a:endParaRPr b="1">
              <a:latin typeface="Calibri"/>
              <a:ea typeface="Calibri"/>
              <a:cs typeface="Calibri"/>
              <a:sym typeface="Calibri"/>
            </a:endParaRPr>
          </a:p>
        </p:txBody>
      </p:sp>
      <p:sp>
        <p:nvSpPr>
          <p:cNvPr id="348" name="Google Shape;348;p11"/>
          <p:cNvSpPr txBox="1"/>
          <p:nvPr/>
        </p:nvSpPr>
        <p:spPr>
          <a:xfrm>
            <a:off x="8157672" y="7499611"/>
            <a:ext cx="27495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Calibri"/>
                <a:ea typeface="Calibri"/>
                <a:cs typeface="Calibri"/>
                <a:sym typeface="Calibri"/>
              </a:rPr>
              <a:t>Business Question:</a:t>
            </a:r>
            <a:endParaRPr b="1">
              <a:latin typeface="Calibri"/>
              <a:ea typeface="Calibri"/>
              <a:cs typeface="Calibri"/>
              <a:sym typeface="Calibri"/>
            </a:endParaRPr>
          </a:p>
        </p:txBody>
      </p:sp>
      <p:sp>
        <p:nvSpPr>
          <p:cNvPr id="349" name="Google Shape;349;p11"/>
          <p:cNvSpPr txBox="1"/>
          <p:nvPr/>
        </p:nvSpPr>
        <p:spPr>
          <a:xfrm>
            <a:off x="5877360" y="8727045"/>
            <a:ext cx="6816118" cy="112583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75" u="none" cap="none" strike="noStrike">
                <a:solidFill>
                  <a:srgbClr val="23403D"/>
                </a:solidFill>
                <a:latin typeface="Arial"/>
                <a:ea typeface="Arial"/>
                <a:cs typeface="Arial"/>
                <a:sym typeface="Arial"/>
              </a:rPr>
              <a:t>Consumer drives the highest sales, but Customer Satisfaction leads in profit margin, while Home Office remains the weakest segment</a:t>
            </a:r>
            <a:r>
              <a:rPr b="0" i="0" lang="en-US" sz="2175" u="none" cap="none" strike="noStrike">
                <a:solidFill>
                  <a:srgbClr val="000000"/>
                </a:solidFill>
                <a:latin typeface="Arial"/>
                <a:ea typeface="Arial"/>
                <a:cs typeface="Arial"/>
                <a:sym typeface="Aria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2"/>
          <p:cNvSpPr/>
          <p:nvPr/>
        </p:nvSpPr>
        <p:spPr>
          <a:xfrm>
            <a:off x="223049" y="132452"/>
            <a:ext cx="16230407" cy="8627600"/>
          </a:xfrm>
          <a:custGeom>
            <a:rect b="b" l="l" r="r" t="t"/>
            <a:pathLst>
              <a:path extrusionOk="0" h="8627600" w="16230407">
                <a:moveTo>
                  <a:pt x="0" y="0"/>
                </a:moveTo>
                <a:lnTo>
                  <a:pt x="16230406" y="0"/>
                </a:lnTo>
                <a:lnTo>
                  <a:pt x="16230406" y="8627599"/>
                </a:lnTo>
                <a:lnTo>
                  <a:pt x="0" y="8627599"/>
                </a:lnTo>
                <a:lnTo>
                  <a:pt x="0" y="0"/>
                </a:lnTo>
                <a:close/>
              </a:path>
            </a:pathLst>
          </a:custGeom>
          <a:blipFill rotWithShape="1">
            <a:blip r:embed="rId3">
              <a:alphaModFix/>
            </a:blip>
            <a:stretch>
              <a:fillRect b="-5560" l="0" r="-337" t="-1007"/>
            </a:stretch>
          </a:blipFill>
          <a:ln>
            <a:noFill/>
          </a:ln>
        </p:spPr>
      </p:sp>
      <p:sp>
        <p:nvSpPr>
          <p:cNvPr id="355" name="Google Shape;355;p12"/>
          <p:cNvSpPr/>
          <p:nvPr/>
        </p:nvSpPr>
        <p:spPr>
          <a:xfrm>
            <a:off x="7114966" y="6225425"/>
            <a:ext cx="10108005" cy="3361743"/>
          </a:xfrm>
          <a:custGeom>
            <a:rect b="b" l="l" r="r" t="t"/>
            <a:pathLst>
              <a:path extrusionOk="0" h="4068922" w="12234332">
                <a:moveTo>
                  <a:pt x="6117166" y="0"/>
                </a:moveTo>
                <a:cubicBezTo>
                  <a:pt x="2738748" y="0"/>
                  <a:pt x="0" y="910859"/>
                  <a:pt x="0" y="2034461"/>
                </a:cubicBezTo>
                <a:cubicBezTo>
                  <a:pt x="0" y="3158063"/>
                  <a:pt x="2738748" y="4068922"/>
                  <a:pt x="6117166" y="4068922"/>
                </a:cubicBezTo>
                <a:cubicBezTo>
                  <a:pt x="9495583" y="4068922"/>
                  <a:pt x="12234331" y="3158063"/>
                  <a:pt x="12234331" y="2034461"/>
                </a:cubicBezTo>
                <a:cubicBezTo>
                  <a:pt x="12234331" y="910859"/>
                  <a:pt x="9495583" y="0"/>
                  <a:pt x="6117166" y="0"/>
                </a:cubicBezTo>
                <a:close/>
              </a:path>
            </a:pathLst>
          </a:custGeom>
          <a:solidFill>
            <a:srgbClr val="9AC4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txBox="1"/>
          <p:nvPr/>
        </p:nvSpPr>
        <p:spPr>
          <a:xfrm>
            <a:off x="8773123" y="7874696"/>
            <a:ext cx="6816118" cy="150683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75" u="none" cap="none" strike="noStrike">
                <a:solidFill>
                  <a:srgbClr val="23403D"/>
                </a:solidFill>
                <a:latin typeface="Arial"/>
                <a:ea typeface="Arial"/>
                <a:cs typeface="Arial"/>
                <a:sym typeface="Arial"/>
              </a:rPr>
              <a:t>Standard Class</a:t>
            </a:r>
            <a:r>
              <a:rPr b="0" i="0" lang="en-US" sz="2175" u="none" cap="none" strike="noStrike">
                <a:solidFill>
                  <a:srgbClr val="23403D"/>
                </a:solidFill>
                <a:latin typeface="Arial"/>
                <a:ea typeface="Arial"/>
                <a:cs typeface="Arial"/>
                <a:sym typeface="Arial"/>
              </a:rPr>
              <a:t> takes the longest</a:t>
            </a:r>
            <a:r>
              <a:rPr b="1" i="0" lang="en-US" sz="2175" u="none" cap="none" strike="noStrike">
                <a:solidFill>
                  <a:srgbClr val="23403D"/>
                </a:solidFill>
                <a:latin typeface="Arial"/>
                <a:ea typeface="Arial"/>
                <a:cs typeface="Arial"/>
                <a:sym typeface="Arial"/>
              </a:rPr>
              <a:t> (5 days)</a:t>
            </a:r>
            <a:r>
              <a:rPr b="0" i="0" lang="en-US" sz="2175" u="none" cap="none" strike="noStrike">
                <a:solidFill>
                  <a:srgbClr val="23403D"/>
                </a:solidFill>
                <a:latin typeface="Arial"/>
                <a:ea typeface="Arial"/>
                <a:cs typeface="Arial"/>
                <a:sym typeface="Arial"/>
              </a:rPr>
              <a:t>, while Same Day delivers nearly instantly</a:t>
            </a:r>
            <a:r>
              <a:rPr b="1" i="0" lang="en-US" sz="2175" u="none" cap="none" strike="noStrike">
                <a:solidFill>
                  <a:srgbClr val="23403D"/>
                </a:solidFill>
                <a:latin typeface="Arial"/>
                <a:ea typeface="Arial"/>
                <a:cs typeface="Arial"/>
                <a:sym typeface="Arial"/>
              </a:rPr>
              <a:t> (0.04 days)</a:t>
            </a:r>
            <a:r>
              <a:rPr b="0" i="0" lang="en-US" sz="2175" u="none" cap="none" strike="noStrike">
                <a:solidFill>
                  <a:srgbClr val="23403D"/>
                </a:solidFill>
                <a:latin typeface="Arial"/>
                <a:ea typeface="Arial"/>
                <a:cs typeface="Arial"/>
                <a:sym typeface="Arial"/>
              </a:rPr>
              <a:t>, highlighting major speed differences across shipping modes</a:t>
            </a:r>
            <a:endParaRPr/>
          </a:p>
        </p:txBody>
      </p:sp>
      <p:sp>
        <p:nvSpPr>
          <p:cNvPr id="357" name="Google Shape;357;p12"/>
          <p:cNvSpPr txBox="1"/>
          <p:nvPr/>
        </p:nvSpPr>
        <p:spPr>
          <a:xfrm>
            <a:off x="7885645" y="6644685"/>
            <a:ext cx="8182689" cy="7266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140" u="none" cap="none" strike="noStrike">
                <a:solidFill>
                  <a:srgbClr val="231F20"/>
                </a:solidFill>
                <a:latin typeface="Arial"/>
                <a:ea typeface="Arial"/>
                <a:cs typeface="Arial"/>
                <a:sym typeface="Arial"/>
              </a:rPr>
              <a:t>Business Question:</a:t>
            </a:r>
            <a:endParaRPr/>
          </a:p>
          <a:p>
            <a:pPr indent="0" lvl="0" marL="0" marR="0" rtl="0" algn="ctr">
              <a:lnSpc>
                <a:spcPct val="140000"/>
              </a:lnSpc>
              <a:spcBef>
                <a:spcPts val="0"/>
              </a:spcBef>
              <a:spcAft>
                <a:spcPts val="0"/>
              </a:spcAft>
              <a:buNone/>
            </a:pPr>
            <a:r>
              <a:rPr b="0" i="0" lang="en-US" sz="2140" u="none" cap="none" strike="noStrike">
                <a:solidFill>
                  <a:srgbClr val="23403D"/>
                </a:solidFill>
                <a:latin typeface="Arial"/>
                <a:ea typeface="Arial"/>
                <a:cs typeface="Arial"/>
                <a:sym typeface="Arial"/>
              </a:rPr>
              <a:t>"</a:t>
            </a:r>
            <a:r>
              <a:rPr b="0" i="0" lang="en-US" sz="2140" u="none" cap="none" strike="noStrike">
                <a:solidFill>
                  <a:srgbClr val="FDFBFB"/>
                </a:solidFill>
                <a:latin typeface="Arial"/>
                <a:ea typeface="Arial"/>
                <a:cs typeface="Arial"/>
                <a:sym typeface="Arial"/>
              </a:rPr>
              <a:t>How does the choice of shipping mode impact delivery time?</a:t>
            </a:r>
            <a:r>
              <a:rPr b="0" i="0" lang="en-US" sz="2140" u="none" cap="none" strike="noStrike">
                <a:solidFill>
                  <a:srgbClr val="23403D"/>
                </a:solidFill>
                <a:latin typeface="Arial"/>
                <a:ea typeface="Arial"/>
                <a:cs typeface="Arial"/>
                <a:sym typeface="Arial"/>
              </a:rPr>
              <a:t>"</a:t>
            </a:r>
            <a:endParaRPr/>
          </a:p>
        </p:txBody>
      </p:sp>
      <p:sp>
        <p:nvSpPr>
          <p:cNvPr id="358" name="Google Shape;358;p12"/>
          <p:cNvSpPr txBox="1"/>
          <p:nvPr/>
        </p:nvSpPr>
        <p:spPr>
          <a:xfrm>
            <a:off x="4789170" y="224641"/>
            <a:ext cx="870966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Arial"/>
                <a:ea typeface="Arial"/>
                <a:cs typeface="Arial"/>
                <a:sym typeface="Arial"/>
              </a:rPr>
              <a:t> </a:t>
            </a:r>
            <a:r>
              <a:rPr b="1" i="0" lang="en-US" sz="3399" u="none" cap="none" strike="noStrike">
                <a:solidFill>
                  <a:srgbClr val="5F8883"/>
                </a:solidFill>
                <a:latin typeface="Arial"/>
                <a:ea typeface="Arial"/>
                <a:cs typeface="Arial"/>
                <a:sym typeface="Arial"/>
              </a:rPr>
              <a:t>Average Delivery Days by Shipping Mode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3"/>
          <p:cNvSpPr/>
          <p:nvPr/>
        </p:nvSpPr>
        <p:spPr>
          <a:xfrm>
            <a:off x="1508750" y="1093475"/>
            <a:ext cx="15067501" cy="8719165"/>
          </a:xfrm>
          <a:custGeom>
            <a:rect b="b" l="l" r="r" t="t"/>
            <a:pathLst>
              <a:path extrusionOk="0" h="8206273" w="14881482">
                <a:moveTo>
                  <a:pt x="0" y="0"/>
                </a:moveTo>
                <a:lnTo>
                  <a:pt x="14881482" y="0"/>
                </a:lnTo>
                <a:lnTo>
                  <a:pt x="14881482" y="8206273"/>
                </a:lnTo>
                <a:lnTo>
                  <a:pt x="0" y="8206273"/>
                </a:lnTo>
                <a:lnTo>
                  <a:pt x="0" y="0"/>
                </a:lnTo>
                <a:close/>
              </a:path>
            </a:pathLst>
          </a:custGeom>
          <a:blipFill rotWithShape="1">
            <a:blip r:embed="rId3">
              <a:alphaModFix/>
            </a:blip>
            <a:stretch>
              <a:fillRect b="-1025" l="0" r="-773" t="-4818"/>
            </a:stretch>
          </a:blipFill>
          <a:ln>
            <a:noFill/>
          </a:ln>
        </p:spPr>
      </p:sp>
      <p:sp>
        <p:nvSpPr>
          <p:cNvPr id="364" name="Google Shape;364;p13"/>
          <p:cNvSpPr txBox="1"/>
          <p:nvPr/>
        </p:nvSpPr>
        <p:spPr>
          <a:xfrm>
            <a:off x="852639" y="177822"/>
            <a:ext cx="14585513"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5F8883"/>
                </a:solidFill>
                <a:latin typeface="Arial"/>
                <a:ea typeface="Arial"/>
                <a:cs typeface="Arial"/>
                <a:sym typeface="Arial"/>
              </a:rPr>
              <a:t>Monthly Sales (Bn) &amp; Profit Margin % — with 3-Month Moving Average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4"/>
          <p:cNvSpPr/>
          <p:nvPr/>
        </p:nvSpPr>
        <p:spPr>
          <a:xfrm>
            <a:off x="6157310" y="1912817"/>
            <a:ext cx="12006632" cy="2176085"/>
          </a:xfrm>
          <a:custGeom>
            <a:rect b="b" l="l" r="r" t="t"/>
            <a:pathLst>
              <a:path extrusionOk="0" h="2176085" w="12006632">
                <a:moveTo>
                  <a:pt x="0" y="0"/>
                </a:moveTo>
                <a:lnTo>
                  <a:pt x="12006632" y="0"/>
                </a:lnTo>
                <a:lnTo>
                  <a:pt x="12006632" y="2176085"/>
                </a:lnTo>
                <a:lnTo>
                  <a:pt x="0" y="2176085"/>
                </a:lnTo>
                <a:lnTo>
                  <a:pt x="0" y="0"/>
                </a:lnTo>
                <a:close/>
              </a:path>
            </a:pathLst>
          </a:custGeom>
          <a:blipFill rotWithShape="1">
            <a:blip r:embed="rId3">
              <a:alphaModFix/>
            </a:blip>
            <a:stretch>
              <a:fillRect b="-7005" l="-660" r="-661" t="0"/>
            </a:stretch>
          </a:blipFill>
          <a:ln>
            <a:noFill/>
          </a:ln>
        </p:spPr>
      </p:sp>
      <p:sp>
        <p:nvSpPr>
          <p:cNvPr id="370" name="Google Shape;370;p14"/>
          <p:cNvSpPr/>
          <p:nvPr/>
        </p:nvSpPr>
        <p:spPr>
          <a:xfrm>
            <a:off x="436263" y="2432819"/>
            <a:ext cx="5206553" cy="2859719"/>
          </a:xfrm>
          <a:custGeom>
            <a:rect b="b" l="l" r="r" t="t"/>
            <a:pathLst>
              <a:path extrusionOk="0" h="2859719" w="5206553">
                <a:moveTo>
                  <a:pt x="0" y="0"/>
                </a:moveTo>
                <a:lnTo>
                  <a:pt x="5206554" y="0"/>
                </a:lnTo>
                <a:lnTo>
                  <a:pt x="5206554" y="2859718"/>
                </a:lnTo>
                <a:lnTo>
                  <a:pt x="0" y="2859718"/>
                </a:lnTo>
                <a:lnTo>
                  <a:pt x="0" y="0"/>
                </a:lnTo>
                <a:close/>
              </a:path>
            </a:pathLst>
          </a:custGeom>
          <a:blipFill rotWithShape="1">
            <a:blip r:embed="rId4">
              <a:alphaModFix/>
            </a:blip>
            <a:stretch>
              <a:fillRect b="0" l="0" r="0" t="0"/>
            </a:stretch>
          </a:blipFill>
          <a:ln>
            <a:noFill/>
          </a:ln>
        </p:spPr>
      </p:sp>
      <p:sp>
        <p:nvSpPr>
          <p:cNvPr id="371" name="Google Shape;371;p14"/>
          <p:cNvSpPr/>
          <p:nvPr/>
        </p:nvSpPr>
        <p:spPr>
          <a:xfrm>
            <a:off x="328632" y="6684562"/>
            <a:ext cx="5828678" cy="1406966"/>
          </a:xfrm>
          <a:custGeom>
            <a:rect b="b" l="l" r="r" t="t"/>
            <a:pathLst>
              <a:path extrusionOk="0" h="1406966" w="5828678">
                <a:moveTo>
                  <a:pt x="0" y="0"/>
                </a:moveTo>
                <a:lnTo>
                  <a:pt x="5828678" y="0"/>
                </a:lnTo>
                <a:lnTo>
                  <a:pt x="5828678" y="1406966"/>
                </a:lnTo>
                <a:lnTo>
                  <a:pt x="0" y="1406966"/>
                </a:lnTo>
                <a:lnTo>
                  <a:pt x="0" y="0"/>
                </a:lnTo>
                <a:close/>
              </a:path>
            </a:pathLst>
          </a:custGeom>
          <a:blipFill rotWithShape="1">
            <a:blip r:embed="rId5">
              <a:alphaModFix/>
            </a:blip>
            <a:stretch>
              <a:fillRect b="0" l="0" r="0" t="0"/>
            </a:stretch>
          </a:blipFill>
          <a:ln>
            <a:noFill/>
          </a:ln>
        </p:spPr>
      </p:sp>
      <p:sp>
        <p:nvSpPr>
          <p:cNvPr id="372" name="Google Shape;372;p14"/>
          <p:cNvSpPr/>
          <p:nvPr/>
        </p:nvSpPr>
        <p:spPr>
          <a:xfrm>
            <a:off x="5638499" y="7644749"/>
            <a:ext cx="630243" cy="1448834"/>
          </a:xfrm>
          <a:custGeom>
            <a:rect b="b" l="l" r="r" t="t"/>
            <a:pathLst>
              <a:path extrusionOk="0" h="1448834" w="630243">
                <a:moveTo>
                  <a:pt x="0" y="0"/>
                </a:moveTo>
                <a:lnTo>
                  <a:pt x="630243" y="0"/>
                </a:lnTo>
                <a:lnTo>
                  <a:pt x="630243" y="1448834"/>
                </a:lnTo>
                <a:lnTo>
                  <a:pt x="0" y="1448834"/>
                </a:lnTo>
                <a:lnTo>
                  <a:pt x="0" y="0"/>
                </a:lnTo>
                <a:close/>
              </a:path>
            </a:pathLst>
          </a:custGeom>
          <a:blipFill rotWithShape="1">
            <a:blip r:embed="rId6">
              <a:alphaModFix/>
            </a:blip>
            <a:stretch>
              <a:fillRect b="0" l="0" r="0" t="0"/>
            </a:stretch>
          </a:blipFill>
          <a:ln>
            <a:noFill/>
          </a:ln>
        </p:spPr>
      </p:sp>
      <p:sp>
        <p:nvSpPr>
          <p:cNvPr id="373" name="Google Shape;373;p14"/>
          <p:cNvSpPr/>
          <p:nvPr/>
        </p:nvSpPr>
        <p:spPr>
          <a:xfrm>
            <a:off x="6157310" y="1777839"/>
            <a:ext cx="11101990" cy="2537370"/>
          </a:xfrm>
          <a:custGeom>
            <a:rect b="b" l="l" r="r" t="t"/>
            <a:pathLst>
              <a:path extrusionOk="0" h="2537370" w="11101990">
                <a:moveTo>
                  <a:pt x="0" y="0"/>
                </a:moveTo>
                <a:lnTo>
                  <a:pt x="11101990" y="0"/>
                </a:lnTo>
                <a:lnTo>
                  <a:pt x="11101990" y="2537370"/>
                </a:lnTo>
                <a:lnTo>
                  <a:pt x="0" y="2537370"/>
                </a:lnTo>
                <a:lnTo>
                  <a:pt x="0" y="0"/>
                </a:lnTo>
                <a:close/>
              </a:path>
            </a:pathLst>
          </a:custGeom>
          <a:blipFill rotWithShape="1">
            <a:blip r:embed="rId7">
              <a:alphaModFix/>
            </a:blip>
            <a:stretch>
              <a:fillRect b="0" l="-3855" r="-1015" t="0"/>
            </a:stretch>
          </a:blipFill>
          <a:ln>
            <a:noFill/>
          </a:ln>
        </p:spPr>
      </p:sp>
      <p:sp>
        <p:nvSpPr>
          <p:cNvPr id="374" name="Google Shape;374;p14"/>
          <p:cNvSpPr/>
          <p:nvPr/>
        </p:nvSpPr>
        <p:spPr>
          <a:xfrm>
            <a:off x="6821943" y="5046433"/>
            <a:ext cx="9772724" cy="4824509"/>
          </a:xfrm>
          <a:custGeom>
            <a:rect b="b" l="l" r="r" t="t"/>
            <a:pathLst>
              <a:path extrusionOk="0" h="4824509" w="9772724">
                <a:moveTo>
                  <a:pt x="0" y="0"/>
                </a:moveTo>
                <a:lnTo>
                  <a:pt x="9772724" y="0"/>
                </a:lnTo>
                <a:lnTo>
                  <a:pt x="9772724" y="4824509"/>
                </a:lnTo>
                <a:lnTo>
                  <a:pt x="0" y="4824509"/>
                </a:lnTo>
                <a:lnTo>
                  <a:pt x="0" y="0"/>
                </a:lnTo>
                <a:close/>
              </a:path>
            </a:pathLst>
          </a:custGeom>
          <a:blipFill rotWithShape="1">
            <a:blip r:embed="rId8">
              <a:alphaModFix/>
            </a:blip>
            <a:stretch>
              <a:fillRect b="0" l="0" r="0" t="0"/>
            </a:stretch>
          </a:blipFill>
          <a:ln>
            <a:noFill/>
          </a:ln>
        </p:spPr>
      </p:sp>
      <p:sp>
        <p:nvSpPr>
          <p:cNvPr id="375" name="Google Shape;375;p14"/>
          <p:cNvSpPr txBox="1"/>
          <p:nvPr/>
        </p:nvSpPr>
        <p:spPr>
          <a:xfrm>
            <a:off x="-988183" y="-114300"/>
            <a:ext cx="8258619" cy="211274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1" i="0" lang="en-US" sz="6071" u="none" cap="none" strike="noStrike">
                <a:solidFill>
                  <a:srgbClr val="4E7C7D"/>
                </a:solidFill>
                <a:latin typeface="Arial"/>
                <a:ea typeface="Arial"/>
                <a:cs typeface="Arial"/>
                <a:sym typeface="Arial"/>
              </a:rPr>
              <a:t>Hypothesis Test</a:t>
            </a:r>
            <a:endParaRPr/>
          </a:p>
          <a:p>
            <a:pPr indent="0" lvl="0" marL="0" marR="0" rtl="0" algn="ctr">
              <a:lnSpc>
                <a:spcPct val="139993"/>
              </a:lnSpc>
              <a:spcBef>
                <a:spcPts val="0"/>
              </a:spcBef>
              <a:spcAft>
                <a:spcPts val="0"/>
              </a:spcAft>
              <a:buNone/>
            </a:pPr>
            <a:r>
              <a:t/>
            </a:r>
            <a:endParaRPr b="1" i="0" sz="6071" u="none" cap="none" strike="noStrike">
              <a:solidFill>
                <a:srgbClr val="4E7C7D"/>
              </a:solidFill>
              <a:latin typeface="Arial"/>
              <a:ea typeface="Arial"/>
              <a:cs typeface="Arial"/>
              <a:sym typeface="Arial"/>
            </a:endParaRPr>
          </a:p>
        </p:txBody>
      </p:sp>
      <p:sp>
        <p:nvSpPr>
          <p:cNvPr id="376" name="Google Shape;376;p14"/>
          <p:cNvSpPr txBox="1"/>
          <p:nvPr/>
        </p:nvSpPr>
        <p:spPr>
          <a:xfrm>
            <a:off x="7219120" y="1197449"/>
            <a:ext cx="7744778"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4E7C7D"/>
                </a:solidFill>
                <a:latin typeface="Arial"/>
                <a:ea typeface="Arial"/>
                <a:cs typeface="Arial"/>
                <a:sym typeface="Arial"/>
              </a:rPr>
              <a:t>Impact of Discounts on Profit Margin</a:t>
            </a:r>
            <a:endParaRPr/>
          </a:p>
        </p:txBody>
      </p:sp>
      <p:sp>
        <p:nvSpPr>
          <p:cNvPr id="377" name="Google Shape;377;p14"/>
          <p:cNvSpPr txBox="1"/>
          <p:nvPr/>
        </p:nvSpPr>
        <p:spPr>
          <a:xfrm>
            <a:off x="7270436" y="4422277"/>
            <a:ext cx="690520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4E7C7D"/>
                </a:solidFill>
                <a:latin typeface="Arial"/>
                <a:ea typeface="Arial"/>
                <a:cs typeface="Arial"/>
                <a:sym typeface="Arial"/>
              </a:rPr>
              <a:t>Statistical Test Results (α=0.05)</a:t>
            </a:r>
            <a:endParaRPr/>
          </a:p>
        </p:txBody>
      </p:sp>
      <p:sp>
        <p:nvSpPr>
          <p:cNvPr id="378" name="Google Shape;378;p14"/>
          <p:cNvSpPr txBox="1"/>
          <p:nvPr/>
        </p:nvSpPr>
        <p:spPr>
          <a:xfrm>
            <a:off x="436263" y="2635991"/>
            <a:ext cx="4641876" cy="2867721"/>
          </a:xfrm>
          <a:prstGeom prst="rect">
            <a:avLst/>
          </a:prstGeom>
          <a:noFill/>
          <a:ln>
            <a:noFill/>
          </a:ln>
        </p:spPr>
        <p:txBody>
          <a:bodyPr anchorCtr="0" anchor="t" bIns="0" lIns="0" spcFirstLastPara="1" rIns="0" wrap="square" tIns="0">
            <a:spAutoFit/>
          </a:bodyPr>
          <a:lstStyle/>
          <a:p>
            <a:pPr indent="-226434" lvl="1" marL="452869" marR="0" rtl="0" algn="ctr">
              <a:lnSpc>
                <a:spcPct val="140009"/>
              </a:lnSpc>
              <a:spcBef>
                <a:spcPts val="0"/>
              </a:spcBef>
              <a:spcAft>
                <a:spcPts val="0"/>
              </a:spcAft>
              <a:buClr>
                <a:srgbClr val="498E66"/>
              </a:buClr>
              <a:buSzPts val="2097"/>
              <a:buFont typeface="Arial"/>
              <a:buChar char="•"/>
            </a:pPr>
            <a:r>
              <a:rPr b="1" i="0" lang="en-US" sz="2097" u="none" cap="none" strike="noStrike">
                <a:solidFill>
                  <a:srgbClr val="498E66"/>
                </a:solidFill>
                <a:latin typeface="Arial"/>
                <a:ea typeface="Arial"/>
                <a:cs typeface="Arial"/>
                <a:sym typeface="Arial"/>
              </a:rPr>
              <a:t>Compared profit margins for orders with vs without discounts.</a:t>
            </a:r>
            <a:endParaRPr/>
          </a:p>
          <a:p>
            <a:pPr indent="-226434" lvl="1" marL="452869" marR="0" rtl="0" algn="ctr">
              <a:lnSpc>
                <a:spcPct val="140009"/>
              </a:lnSpc>
              <a:spcBef>
                <a:spcPts val="0"/>
              </a:spcBef>
              <a:spcAft>
                <a:spcPts val="0"/>
              </a:spcAft>
              <a:buClr>
                <a:srgbClr val="498E66"/>
              </a:buClr>
              <a:buSzPts val="2097"/>
              <a:buFont typeface="Arial"/>
              <a:buChar char="•"/>
            </a:pPr>
            <a:r>
              <a:rPr b="1" i="0" lang="en-US" sz="2097" u="none" cap="none" strike="noStrike">
                <a:solidFill>
                  <a:srgbClr val="498E66"/>
                </a:solidFill>
                <a:latin typeface="Arial"/>
                <a:ea typeface="Arial"/>
                <a:cs typeface="Arial"/>
                <a:sym typeface="Arial"/>
              </a:rPr>
              <a:t>Applied multiple statistical tests at </a:t>
            </a:r>
            <a:r>
              <a:rPr b="1" i="0" lang="en-US" sz="2097" u="none" cap="none" strike="noStrike">
                <a:solidFill>
                  <a:srgbClr val="0F0E0C"/>
                </a:solidFill>
                <a:latin typeface="Arial"/>
                <a:ea typeface="Arial"/>
                <a:cs typeface="Arial"/>
                <a:sym typeface="Arial"/>
              </a:rPr>
              <a:t>α = 0.05 </a:t>
            </a:r>
            <a:r>
              <a:rPr b="1" i="0" lang="en-US" sz="2097" u="none" cap="none" strike="noStrike">
                <a:solidFill>
                  <a:srgbClr val="498E66"/>
                </a:solidFill>
                <a:latin typeface="Arial"/>
                <a:ea typeface="Arial"/>
                <a:cs typeface="Arial"/>
                <a:sym typeface="Arial"/>
              </a:rPr>
              <a:t>(Welch, Mann–Whitney, Mood’s median).</a:t>
            </a:r>
            <a:endParaRPr/>
          </a:p>
          <a:p>
            <a:pPr indent="0" lvl="0" marL="0" marR="0" rtl="0" algn="ctr">
              <a:lnSpc>
                <a:spcPct val="140009"/>
              </a:lnSpc>
              <a:spcBef>
                <a:spcPts val="0"/>
              </a:spcBef>
              <a:spcAft>
                <a:spcPts val="0"/>
              </a:spcAft>
              <a:buNone/>
            </a:pPr>
            <a:r>
              <a:t/>
            </a:r>
            <a:endParaRPr b="1" i="0" sz="2097" u="none" cap="none" strike="noStrike">
              <a:solidFill>
                <a:srgbClr val="498E66"/>
              </a:solidFill>
              <a:latin typeface="Arial"/>
              <a:ea typeface="Arial"/>
              <a:cs typeface="Arial"/>
              <a:sym typeface="Arial"/>
            </a:endParaRPr>
          </a:p>
          <a:p>
            <a:pPr indent="0" lvl="0" marL="0" marR="0" rtl="0" algn="ctr">
              <a:lnSpc>
                <a:spcPct val="106628"/>
              </a:lnSpc>
              <a:spcBef>
                <a:spcPts val="0"/>
              </a:spcBef>
              <a:spcAft>
                <a:spcPts val="0"/>
              </a:spcAft>
              <a:buNone/>
            </a:pPr>
            <a:r>
              <a:t/>
            </a:r>
            <a:endParaRPr b="1" i="0" sz="2097" u="none" cap="none" strike="noStrike">
              <a:solidFill>
                <a:srgbClr val="498E66"/>
              </a:solidFill>
              <a:latin typeface="Arial"/>
              <a:ea typeface="Arial"/>
              <a:cs typeface="Arial"/>
              <a:sym typeface="Arial"/>
            </a:endParaRPr>
          </a:p>
        </p:txBody>
      </p:sp>
      <p:sp>
        <p:nvSpPr>
          <p:cNvPr id="379" name="Google Shape;379;p14"/>
          <p:cNvSpPr txBox="1"/>
          <p:nvPr/>
        </p:nvSpPr>
        <p:spPr>
          <a:xfrm>
            <a:off x="328632" y="7019790"/>
            <a:ext cx="5624989" cy="38124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240" u="none" cap="none" strike="noStrike">
                <a:solidFill>
                  <a:srgbClr val="1D7363"/>
                </a:solidFill>
                <a:latin typeface="Arial"/>
                <a:ea typeface="Arial"/>
                <a:cs typeface="Arial"/>
                <a:sym typeface="Arial"/>
              </a:rPr>
              <a:t>Most tests had p-value &lt; 0.05 → reject H₀.</a:t>
            </a:r>
            <a:endParaRPr/>
          </a:p>
        </p:txBody>
      </p:sp>
      <p:sp>
        <p:nvSpPr>
          <p:cNvPr id="380" name="Google Shape;380;p14"/>
          <p:cNvSpPr txBox="1"/>
          <p:nvPr/>
        </p:nvSpPr>
        <p:spPr>
          <a:xfrm>
            <a:off x="328632" y="9055483"/>
            <a:ext cx="5474068" cy="81545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395" u="none" cap="none" strike="noStrike">
                <a:solidFill>
                  <a:srgbClr val="4E7C7D"/>
                </a:solidFill>
                <a:latin typeface="Arial"/>
                <a:ea typeface="Arial"/>
                <a:cs typeface="Arial"/>
                <a:sym typeface="Arial"/>
              </a:rPr>
              <a:t>Strong evidence discounts reduce profit margins.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5"/>
          <p:cNvSpPr/>
          <p:nvPr/>
        </p:nvSpPr>
        <p:spPr>
          <a:xfrm>
            <a:off x="7256530" y="1353763"/>
            <a:ext cx="11031470" cy="2662851"/>
          </a:xfrm>
          <a:custGeom>
            <a:rect b="b" l="l" r="r" t="t"/>
            <a:pathLst>
              <a:path extrusionOk="0" h="2662851" w="11031470">
                <a:moveTo>
                  <a:pt x="0" y="0"/>
                </a:moveTo>
                <a:lnTo>
                  <a:pt x="11031470" y="0"/>
                </a:lnTo>
                <a:lnTo>
                  <a:pt x="11031470" y="2662851"/>
                </a:lnTo>
                <a:lnTo>
                  <a:pt x="0" y="2662851"/>
                </a:lnTo>
                <a:lnTo>
                  <a:pt x="0" y="0"/>
                </a:lnTo>
                <a:close/>
              </a:path>
            </a:pathLst>
          </a:custGeom>
          <a:blipFill rotWithShape="1">
            <a:blip r:embed="rId3">
              <a:alphaModFix/>
            </a:blip>
            <a:stretch>
              <a:fillRect b="0" l="0" r="0" t="0"/>
            </a:stretch>
          </a:blipFill>
          <a:ln>
            <a:noFill/>
          </a:ln>
        </p:spPr>
      </p:sp>
      <p:sp>
        <p:nvSpPr>
          <p:cNvPr id="386" name="Google Shape;386;p15"/>
          <p:cNvSpPr/>
          <p:nvPr/>
        </p:nvSpPr>
        <p:spPr>
          <a:xfrm>
            <a:off x="5097052" y="2685189"/>
            <a:ext cx="2159477" cy="923177"/>
          </a:xfrm>
          <a:custGeom>
            <a:rect b="b" l="l" r="r" t="t"/>
            <a:pathLst>
              <a:path extrusionOk="0" h="923177" w="2159477">
                <a:moveTo>
                  <a:pt x="0" y="0"/>
                </a:moveTo>
                <a:lnTo>
                  <a:pt x="2159478" y="0"/>
                </a:lnTo>
                <a:lnTo>
                  <a:pt x="2159478" y="923176"/>
                </a:lnTo>
                <a:lnTo>
                  <a:pt x="0" y="923176"/>
                </a:lnTo>
                <a:lnTo>
                  <a:pt x="0" y="0"/>
                </a:lnTo>
                <a:close/>
              </a:path>
            </a:pathLst>
          </a:custGeom>
          <a:blipFill rotWithShape="1">
            <a:blip r:embed="rId4">
              <a:alphaModFix/>
            </a:blip>
            <a:stretch>
              <a:fillRect b="0" l="0" r="0" t="0"/>
            </a:stretch>
          </a:blipFill>
          <a:ln>
            <a:noFill/>
          </a:ln>
        </p:spPr>
      </p:sp>
      <p:sp>
        <p:nvSpPr>
          <p:cNvPr id="387" name="Google Shape;387;p15"/>
          <p:cNvSpPr/>
          <p:nvPr/>
        </p:nvSpPr>
        <p:spPr>
          <a:xfrm>
            <a:off x="9342678" y="4016614"/>
            <a:ext cx="8018741" cy="6014248"/>
          </a:xfrm>
          <a:custGeom>
            <a:rect b="b" l="l" r="r" t="t"/>
            <a:pathLst>
              <a:path extrusionOk="0" h="6014248" w="8018741">
                <a:moveTo>
                  <a:pt x="0" y="0"/>
                </a:moveTo>
                <a:lnTo>
                  <a:pt x="8018741" y="0"/>
                </a:lnTo>
                <a:lnTo>
                  <a:pt x="8018741" y="6014248"/>
                </a:lnTo>
                <a:lnTo>
                  <a:pt x="0" y="6014248"/>
                </a:lnTo>
                <a:lnTo>
                  <a:pt x="0" y="0"/>
                </a:lnTo>
                <a:close/>
              </a:path>
            </a:pathLst>
          </a:custGeom>
          <a:blipFill rotWithShape="1">
            <a:blip r:embed="rId5">
              <a:alphaModFix/>
            </a:blip>
            <a:stretch>
              <a:fillRect b="0" l="-1759" r="-1759" t="0"/>
            </a:stretch>
          </a:blipFill>
          <a:ln>
            <a:noFill/>
          </a:ln>
        </p:spPr>
      </p:sp>
      <p:sp>
        <p:nvSpPr>
          <p:cNvPr id="388" name="Google Shape;388;p15"/>
          <p:cNvSpPr/>
          <p:nvPr/>
        </p:nvSpPr>
        <p:spPr>
          <a:xfrm>
            <a:off x="486292" y="4272752"/>
            <a:ext cx="8272187" cy="6014248"/>
          </a:xfrm>
          <a:custGeom>
            <a:rect b="b" l="l" r="r" t="t"/>
            <a:pathLst>
              <a:path extrusionOk="0" h="6014248" w="8272187">
                <a:moveTo>
                  <a:pt x="0" y="0"/>
                </a:moveTo>
                <a:lnTo>
                  <a:pt x="8272187" y="0"/>
                </a:lnTo>
                <a:lnTo>
                  <a:pt x="8272187" y="6014248"/>
                </a:lnTo>
                <a:lnTo>
                  <a:pt x="0" y="6014248"/>
                </a:lnTo>
                <a:lnTo>
                  <a:pt x="0" y="0"/>
                </a:lnTo>
                <a:close/>
              </a:path>
            </a:pathLst>
          </a:custGeom>
          <a:blipFill rotWithShape="1">
            <a:blip r:embed="rId6">
              <a:alphaModFix/>
            </a:blip>
            <a:stretch>
              <a:fillRect b="0" l="-1600" r="-1600" t="0"/>
            </a:stretch>
          </a:blipFill>
          <a:ln>
            <a:noFill/>
          </a:ln>
        </p:spPr>
      </p:sp>
      <p:sp>
        <p:nvSpPr>
          <p:cNvPr id="389" name="Google Shape;389;p15"/>
          <p:cNvSpPr txBox="1"/>
          <p:nvPr/>
        </p:nvSpPr>
        <p:spPr>
          <a:xfrm>
            <a:off x="4179889" y="28235"/>
            <a:ext cx="10325577" cy="58737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499" u="none" cap="none" strike="noStrike">
                <a:solidFill>
                  <a:srgbClr val="4E7C7D"/>
                </a:solidFill>
                <a:latin typeface="Arial"/>
                <a:ea typeface="Arial"/>
                <a:cs typeface="Arial"/>
                <a:sym typeface="Arial"/>
              </a:rPr>
              <a:t>Effect Size Analysis: Discounts vs. No Discounts</a:t>
            </a:r>
            <a:endParaRPr/>
          </a:p>
        </p:txBody>
      </p:sp>
      <p:sp>
        <p:nvSpPr>
          <p:cNvPr id="390" name="Google Shape;390;p15"/>
          <p:cNvSpPr txBox="1"/>
          <p:nvPr/>
        </p:nvSpPr>
        <p:spPr>
          <a:xfrm>
            <a:off x="2529566" y="1493248"/>
            <a:ext cx="4185600" cy="2484900"/>
          </a:xfrm>
          <a:prstGeom prst="rect">
            <a:avLst/>
          </a:prstGeom>
          <a:noFill/>
          <a:ln>
            <a:noFill/>
          </a:ln>
        </p:spPr>
        <p:txBody>
          <a:bodyPr anchorCtr="0" anchor="t" bIns="0" lIns="0" spcFirstLastPara="1" rIns="0" wrap="square" tIns="0">
            <a:spAutoFit/>
          </a:bodyPr>
          <a:lstStyle/>
          <a:p>
            <a:pPr indent="-233737" lvl="1" marL="467474" marR="0" rtl="0" algn="ctr">
              <a:lnSpc>
                <a:spcPct val="140000"/>
              </a:lnSpc>
              <a:spcBef>
                <a:spcPts val="0"/>
              </a:spcBef>
              <a:spcAft>
                <a:spcPts val="0"/>
              </a:spcAft>
              <a:buClr>
                <a:srgbClr val="000000"/>
              </a:buClr>
              <a:buSzPts val="2165"/>
              <a:buFont typeface="Arial"/>
              <a:buChar char="•"/>
            </a:pPr>
            <a:r>
              <a:rPr b="1" lang="en-US" sz="2165"/>
              <a:t>7</a:t>
            </a:r>
            <a:r>
              <a:rPr b="1" i="0" lang="en-US" sz="2165" u="none" cap="none" strike="noStrike">
                <a:solidFill>
                  <a:srgbClr val="000000"/>
                </a:solidFill>
                <a:latin typeface="Arial"/>
                <a:ea typeface="Arial"/>
                <a:cs typeface="Arial"/>
                <a:sym typeface="Arial"/>
              </a:rPr>
              <a:t>5% CI confirms the drop is statistically significant and substantial.</a:t>
            </a:r>
            <a:endParaRPr/>
          </a:p>
          <a:p>
            <a:pPr indent="0" lvl="0" marL="0" marR="0" rtl="0" algn="ctr">
              <a:lnSpc>
                <a:spcPct val="112840"/>
              </a:lnSpc>
              <a:spcBef>
                <a:spcPts val="0"/>
              </a:spcBef>
              <a:spcAft>
                <a:spcPts val="0"/>
              </a:spcAft>
              <a:buNone/>
            </a:pPr>
            <a:r>
              <a:t/>
            </a:r>
            <a:endParaRPr b="1" i="0" sz="2165" u="none" cap="none" strike="noStrike">
              <a:solidFill>
                <a:srgbClr val="000000"/>
              </a:solidFill>
              <a:latin typeface="Arial"/>
              <a:ea typeface="Arial"/>
              <a:cs typeface="Arial"/>
              <a:sym typeface="Arial"/>
            </a:endParaRPr>
          </a:p>
          <a:p>
            <a:pPr indent="0" lvl="0" marL="0" marR="0" rtl="0" algn="ctr">
              <a:lnSpc>
                <a:spcPct val="112840"/>
              </a:lnSpc>
              <a:spcBef>
                <a:spcPts val="0"/>
              </a:spcBef>
              <a:spcAft>
                <a:spcPts val="0"/>
              </a:spcAft>
              <a:buNone/>
            </a:pPr>
            <a:r>
              <a:t/>
            </a:r>
            <a:endParaRPr b="1" i="0" sz="2165" u="none" cap="none" strike="noStrike">
              <a:solidFill>
                <a:srgbClr val="000000"/>
              </a:solidFill>
              <a:latin typeface="Arial"/>
              <a:ea typeface="Arial"/>
              <a:cs typeface="Arial"/>
              <a:sym typeface="Arial"/>
            </a:endParaRPr>
          </a:p>
          <a:p>
            <a:pPr indent="0" lvl="0" marL="0" marR="0" rtl="0" algn="ctr">
              <a:lnSpc>
                <a:spcPct val="112840"/>
              </a:lnSpc>
              <a:spcBef>
                <a:spcPts val="0"/>
              </a:spcBef>
              <a:spcAft>
                <a:spcPts val="0"/>
              </a:spcAft>
              <a:buNone/>
            </a:pPr>
            <a:r>
              <a:t/>
            </a:r>
            <a:endParaRPr b="1" i="0" sz="2165" u="none" cap="none" strike="noStrike">
              <a:solidFill>
                <a:srgbClr val="000000"/>
              </a:solidFill>
              <a:latin typeface="Arial"/>
              <a:ea typeface="Arial"/>
              <a:cs typeface="Arial"/>
              <a:sym typeface="Arial"/>
            </a:endParaRPr>
          </a:p>
        </p:txBody>
      </p:sp>
      <p:sp>
        <p:nvSpPr>
          <p:cNvPr id="391" name="Google Shape;391;p15"/>
          <p:cNvSpPr txBox="1"/>
          <p:nvPr/>
        </p:nvSpPr>
        <p:spPr>
          <a:xfrm>
            <a:off x="7722907" y="1565627"/>
            <a:ext cx="9122862" cy="2114550"/>
          </a:xfrm>
          <a:prstGeom prst="rect">
            <a:avLst/>
          </a:prstGeom>
          <a:noFill/>
          <a:ln>
            <a:noFill/>
          </a:ln>
        </p:spPr>
        <p:txBody>
          <a:bodyPr anchorCtr="0" anchor="t" bIns="0" lIns="0" spcFirstLastPara="1" rIns="0" wrap="square" tIns="0">
            <a:spAutoFit/>
          </a:bodyPr>
          <a:lstStyle/>
          <a:p>
            <a:pPr indent="-323851" lvl="1" marL="647702" marR="0" rtl="0" algn="ctr">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Mean difference (with − no): -575.48%</a:t>
            </a:r>
            <a:endParaRPr/>
          </a:p>
          <a:p>
            <a:pPr indent="-323851" lvl="1" marL="647702" marR="0" rtl="0" algn="ctr">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95% CI (Welch): [-593.98%, -556.99%]</a:t>
            </a:r>
            <a:endParaRPr/>
          </a:p>
          <a:p>
            <a:pPr indent="-323851" lvl="1" marL="647702" marR="0" rtl="0" algn="ctr">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Hedges’ g: -0.531 (large negative)</a:t>
            </a:r>
            <a:endParaRPr/>
          </a:p>
          <a:p>
            <a:pPr indent="-323851" lvl="1" marL="647702" marR="0" rtl="0" algn="ctr">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Cliff’s delta: -0.590 (large negative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6"/>
          <p:cNvSpPr txBox="1"/>
          <p:nvPr/>
        </p:nvSpPr>
        <p:spPr>
          <a:xfrm>
            <a:off x="1313871" y="-66675"/>
            <a:ext cx="14775438" cy="59689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500" u="none" cap="none" strike="noStrike">
                <a:solidFill>
                  <a:srgbClr val="006137"/>
                </a:solidFill>
                <a:latin typeface="Arial"/>
                <a:ea typeface="Arial"/>
                <a:cs typeface="Arial"/>
                <a:sym typeface="Arial"/>
              </a:rPr>
              <a:t>Key Business Insights </a:t>
            </a:r>
            <a:endParaRPr/>
          </a:p>
        </p:txBody>
      </p:sp>
      <p:sp>
        <p:nvSpPr>
          <p:cNvPr id="397" name="Google Shape;397;p16"/>
          <p:cNvSpPr txBox="1"/>
          <p:nvPr/>
        </p:nvSpPr>
        <p:spPr>
          <a:xfrm>
            <a:off x="380714" y="938702"/>
            <a:ext cx="16878586" cy="9055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000000"/>
                </a:solidFill>
                <a:latin typeface="Arial"/>
                <a:ea typeface="Arial"/>
                <a:cs typeface="Arial"/>
                <a:sym typeface="Arial"/>
              </a:rPr>
              <a:t>#  Orders with discounts have a 575% lower profit margin compared to non-discounted orders.</a:t>
            </a:r>
            <a:endParaRPr/>
          </a:p>
          <a:p>
            <a:pPr indent="0" lvl="0" marL="0" marR="0" rtl="0" algn="ctr">
              <a:lnSpc>
                <a:spcPct val="140000"/>
              </a:lnSpc>
              <a:spcBef>
                <a:spcPts val="0"/>
              </a:spcBef>
              <a:spcAft>
                <a:spcPts val="0"/>
              </a:spcAft>
              <a:buNone/>
            </a:pPr>
            <a:r>
              <a:t/>
            </a:r>
            <a:endParaRPr b="1" i="0" sz="2600" u="none" cap="none" strike="noStrike">
              <a:solidFill>
                <a:srgbClr val="000000"/>
              </a:solidFill>
              <a:latin typeface="Arial"/>
              <a:ea typeface="Arial"/>
              <a:cs typeface="Arial"/>
              <a:sym typeface="Arial"/>
            </a:endParaRPr>
          </a:p>
        </p:txBody>
      </p:sp>
      <p:sp>
        <p:nvSpPr>
          <p:cNvPr id="398" name="Google Shape;398;p16"/>
          <p:cNvSpPr txBox="1"/>
          <p:nvPr/>
        </p:nvSpPr>
        <p:spPr>
          <a:xfrm>
            <a:off x="1028700" y="2934600"/>
            <a:ext cx="14494200" cy="410400"/>
          </a:xfrm>
          <a:prstGeom prst="rect">
            <a:avLst/>
          </a:prstGeom>
          <a:noFill/>
          <a:ln>
            <a:noFill/>
          </a:ln>
        </p:spPr>
        <p:txBody>
          <a:bodyPr anchorCtr="0" anchor="t" bIns="0" lIns="0" spcFirstLastPara="1" rIns="0" wrap="square" tIns="0">
            <a:spAutoFit/>
          </a:bodyPr>
          <a:lstStyle/>
          <a:p>
            <a:pPr indent="0" lvl="0" marL="0" marR="0" rtl="0" algn="ctr">
              <a:lnSpc>
                <a:spcPct val="139970"/>
              </a:lnSpc>
              <a:spcBef>
                <a:spcPts val="0"/>
              </a:spcBef>
              <a:spcAft>
                <a:spcPts val="0"/>
              </a:spcAft>
              <a:buNone/>
            </a:pPr>
            <a:r>
              <a:rPr b="1" i="0" lang="en-US" sz="2667" u="none" cap="none" strike="noStrike">
                <a:solidFill>
                  <a:srgbClr val="000000"/>
                </a:solidFill>
                <a:latin typeface="Arial"/>
                <a:ea typeface="Arial"/>
                <a:cs typeface="Arial"/>
                <a:sym typeface="Arial"/>
              </a:rPr>
              <a:t>#</a:t>
            </a:r>
            <a:r>
              <a:rPr b="0" i="0" lang="en-US" sz="2667" u="none" cap="none" strike="noStrike">
                <a:solidFill>
                  <a:srgbClr val="000000"/>
                </a:solidFill>
                <a:latin typeface="Arial"/>
                <a:ea typeface="Arial"/>
                <a:cs typeface="Arial"/>
                <a:sym typeface="Arial"/>
              </a:rPr>
              <a:t> </a:t>
            </a:r>
            <a:r>
              <a:rPr b="1" i="0" lang="en-US" sz="2667" u="none" cap="none" strike="noStrike">
                <a:solidFill>
                  <a:srgbClr val="000000"/>
                </a:solidFill>
                <a:latin typeface="Arial"/>
                <a:ea typeface="Arial"/>
                <a:cs typeface="Arial"/>
                <a:sym typeface="Arial"/>
              </a:rPr>
              <a:t>Statistical tests (at 5% significance level) confirm this difference is not due to chance.</a:t>
            </a:r>
            <a:endParaRPr/>
          </a:p>
        </p:txBody>
      </p:sp>
      <p:sp>
        <p:nvSpPr>
          <p:cNvPr id="399" name="Google Shape;399;p16"/>
          <p:cNvSpPr txBox="1"/>
          <p:nvPr/>
        </p:nvSpPr>
        <p:spPr>
          <a:xfrm>
            <a:off x="1028700" y="1819721"/>
            <a:ext cx="16974000" cy="960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000000"/>
                </a:solidFill>
                <a:latin typeface="Arial"/>
                <a:ea typeface="Arial"/>
                <a:cs typeface="Arial"/>
                <a:sym typeface="Arial"/>
              </a:rPr>
              <a:t># Large negative effect sizes (Hedges’ g: -0.531, Cliff’s delta: -0.590) indicate a strong negative impact of discounts on profitability.</a:t>
            </a:r>
            <a:endParaRPr/>
          </a:p>
        </p:txBody>
      </p:sp>
      <p:sp>
        <p:nvSpPr>
          <p:cNvPr id="400" name="Google Shape;400;p16"/>
          <p:cNvSpPr txBox="1"/>
          <p:nvPr/>
        </p:nvSpPr>
        <p:spPr>
          <a:xfrm>
            <a:off x="1028700" y="3747770"/>
            <a:ext cx="16178700" cy="3201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600" u="none" cap="none" strike="noStrike">
                <a:solidFill>
                  <a:srgbClr val="000000"/>
                </a:solidFill>
                <a:latin typeface="Arial"/>
                <a:ea typeface="Arial"/>
                <a:cs typeface="Arial"/>
                <a:sym typeface="Arial"/>
              </a:rPr>
              <a:t># High regional variability in profitability — East &amp; West at 100% margin, Africa &amp; EMEA unprofitable </a:t>
            </a:r>
            <a:endParaRPr/>
          </a:p>
          <a:p>
            <a:pPr indent="0" lvl="0" marL="0" marR="0" rtl="0" algn="ctr">
              <a:lnSpc>
                <a:spcPct val="140000"/>
              </a:lnSpc>
              <a:spcBef>
                <a:spcPts val="0"/>
              </a:spcBef>
              <a:spcAft>
                <a:spcPts val="0"/>
              </a:spcAft>
              <a:buNone/>
            </a:pPr>
            <a:r>
              <a:t/>
            </a:r>
            <a:endParaRPr b="1" i="0" sz="26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None/>
            </a:pPr>
            <a:r>
              <a:rPr b="1" i="0" lang="en-US" sz="2600" u="none" cap="none" strike="noStrike">
                <a:solidFill>
                  <a:srgbClr val="000000"/>
                </a:solidFill>
                <a:latin typeface="Arial"/>
                <a:ea typeface="Arial"/>
                <a:cs typeface="Arial"/>
                <a:sym typeface="Arial"/>
              </a:rPr>
              <a:t>#  Discounts significantly reduce profit margins (large negative effect confirmed by hypothesis test) </a:t>
            </a:r>
            <a:endParaRPr/>
          </a:p>
          <a:p>
            <a:pPr indent="0" lvl="0" marL="0" marR="0" rtl="0" algn="ctr">
              <a:lnSpc>
                <a:spcPct val="140000"/>
              </a:lnSpc>
              <a:spcBef>
                <a:spcPts val="0"/>
              </a:spcBef>
              <a:spcAft>
                <a:spcPts val="0"/>
              </a:spcAft>
              <a:buNone/>
            </a:pPr>
            <a:r>
              <a:t/>
            </a:r>
            <a:endParaRPr b="1" i="0" sz="26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None/>
            </a:pPr>
            <a:r>
              <a:rPr b="1" i="0" lang="en-US" sz="2600" u="none" cap="none" strike="noStrike">
                <a:solidFill>
                  <a:srgbClr val="000000"/>
                </a:solidFill>
                <a:latin typeface="Arial"/>
                <a:ea typeface="Arial"/>
                <a:cs typeface="Arial"/>
                <a:sym typeface="Arial"/>
              </a:rPr>
              <a:t>#   Standard Class dominates order volume; long delivery delays in Second Class impact efficiency  </a:t>
            </a:r>
            <a:endParaRPr/>
          </a:p>
          <a:p>
            <a:pPr indent="0" lvl="0" marL="0" marR="0" rtl="0" algn="ctr">
              <a:lnSpc>
                <a:spcPct val="140000"/>
              </a:lnSpc>
              <a:spcBef>
                <a:spcPts val="0"/>
              </a:spcBef>
              <a:spcAft>
                <a:spcPts val="0"/>
              </a:spcAft>
              <a:buNone/>
            </a:pPr>
            <a:r>
              <a:t/>
            </a:r>
            <a:endParaRPr b="1" i="0" sz="2600" u="none" cap="none" strike="noStrike">
              <a:solidFill>
                <a:srgbClr val="000000"/>
              </a:solidFill>
              <a:latin typeface="Arial"/>
              <a:ea typeface="Arial"/>
              <a:cs typeface="Arial"/>
              <a:sym typeface="Arial"/>
            </a:endParaRPr>
          </a:p>
        </p:txBody>
      </p:sp>
      <p:sp>
        <p:nvSpPr>
          <p:cNvPr id="401" name="Google Shape;401;p16"/>
          <p:cNvSpPr txBox="1"/>
          <p:nvPr/>
        </p:nvSpPr>
        <p:spPr>
          <a:xfrm>
            <a:off x="-349898" y="6882130"/>
            <a:ext cx="16685400" cy="17670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006137"/>
                </a:solidFill>
                <a:latin typeface="Arial"/>
                <a:ea typeface="Arial"/>
                <a:cs typeface="Arial"/>
                <a:sym typeface="Arial"/>
              </a:rPr>
              <a:t>Recommendations</a:t>
            </a:r>
            <a:endParaRPr/>
          </a:p>
          <a:p>
            <a:pPr indent="0" lvl="0" marL="0" marR="0" rtl="0" algn="ctr">
              <a:lnSpc>
                <a:spcPct val="140000"/>
              </a:lnSpc>
              <a:spcBef>
                <a:spcPts val="0"/>
              </a:spcBef>
              <a:spcAft>
                <a:spcPts val="0"/>
              </a:spcAft>
              <a:buNone/>
            </a:pPr>
            <a:r>
              <a:rPr b="1" i="0" lang="en-US" sz="2800" u="none" cap="none" strike="noStrike">
                <a:solidFill>
                  <a:srgbClr val="000000"/>
                </a:solidFill>
                <a:latin typeface="Arial"/>
                <a:ea typeface="Arial"/>
                <a:cs typeface="Arial"/>
                <a:sym typeface="Arial"/>
              </a:rPr>
              <a:t>#  Reassess discount strategy to focus only on strategic or seasonal promotions.</a:t>
            </a:r>
            <a:endParaRPr/>
          </a:p>
          <a:p>
            <a:pPr indent="0" lvl="0" marL="0" marR="0" rtl="0" algn="ctr">
              <a:lnSpc>
                <a:spcPct val="140000"/>
              </a:lnSpc>
              <a:spcBef>
                <a:spcPts val="0"/>
              </a:spcBef>
              <a:spcAft>
                <a:spcPts val="0"/>
              </a:spcAft>
              <a:buNone/>
            </a:pPr>
            <a:r>
              <a:rPr b="1" i="0" lang="en-US" sz="2800" u="none" cap="none" strike="noStrike">
                <a:solidFill>
                  <a:srgbClr val="000000"/>
                </a:solidFill>
                <a:latin typeface="Arial"/>
                <a:ea typeface="Arial"/>
                <a:cs typeface="Arial"/>
                <a:sym typeface="Arial"/>
              </a:rPr>
              <a:t>         # Use targeted discounts for high-value or low-risk products to maintain profit margins  </a:t>
            </a:r>
            <a:endParaRPr/>
          </a:p>
        </p:txBody>
      </p:sp>
      <p:sp>
        <p:nvSpPr>
          <p:cNvPr id="402" name="Google Shape;402;p16"/>
          <p:cNvSpPr txBox="1"/>
          <p:nvPr/>
        </p:nvSpPr>
        <p:spPr>
          <a:xfrm>
            <a:off x="1028700" y="8813165"/>
            <a:ext cx="12827100" cy="415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700"/>
              <a:t> #</a:t>
            </a:r>
            <a:r>
              <a:rPr b="1" i="0" lang="en-US" sz="2700" u="none" cap="none" strike="noStrike">
                <a:solidFill>
                  <a:srgbClr val="000000"/>
                </a:solidFill>
                <a:latin typeface="Arial"/>
                <a:ea typeface="Arial"/>
                <a:cs typeface="Arial"/>
                <a:sym typeface="Arial"/>
              </a:rPr>
              <a:t> Monitor post-discount sales vs. profit to evaluate promotion effectiveness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7"/>
          <p:cNvSpPr/>
          <p:nvPr/>
        </p:nvSpPr>
        <p:spPr>
          <a:xfrm>
            <a:off x="1792051" y="1303636"/>
            <a:ext cx="14372769" cy="8364062"/>
          </a:xfrm>
          <a:custGeom>
            <a:rect b="b" l="l" r="r" t="t"/>
            <a:pathLst>
              <a:path extrusionOk="0" h="8364062" w="14372769">
                <a:moveTo>
                  <a:pt x="0" y="0"/>
                </a:moveTo>
                <a:lnTo>
                  <a:pt x="14372769" y="0"/>
                </a:lnTo>
                <a:lnTo>
                  <a:pt x="14372769" y="8364062"/>
                </a:lnTo>
                <a:lnTo>
                  <a:pt x="0" y="8364062"/>
                </a:lnTo>
                <a:lnTo>
                  <a:pt x="0" y="0"/>
                </a:lnTo>
                <a:close/>
              </a:path>
            </a:pathLst>
          </a:custGeom>
          <a:blipFill rotWithShape="1">
            <a:blip r:embed="rId3">
              <a:alphaModFix/>
            </a:blip>
            <a:stretch>
              <a:fillRect b="-6271" l="-8213" r="0" t="-17619"/>
            </a:stretch>
          </a:blipFill>
          <a:ln>
            <a:noFill/>
          </a:ln>
        </p:spPr>
      </p:sp>
      <p:sp>
        <p:nvSpPr>
          <p:cNvPr id="408" name="Google Shape;408;p17"/>
          <p:cNvSpPr txBox="1"/>
          <p:nvPr/>
        </p:nvSpPr>
        <p:spPr>
          <a:xfrm>
            <a:off x="842813" y="457835"/>
            <a:ext cx="14372769" cy="58737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499" u="none" cap="none" strike="noStrike">
                <a:solidFill>
                  <a:srgbClr val="4E7C7D"/>
                </a:solidFill>
                <a:latin typeface="Arial"/>
                <a:ea typeface="Arial"/>
                <a:cs typeface="Arial"/>
                <a:sym typeface="Arial"/>
              </a:rPr>
              <a:t>Future Work &amp; Improvement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9"/>
          <p:cNvSpPr/>
          <p:nvPr/>
        </p:nvSpPr>
        <p:spPr>
          <a:xfrm>
            <a:off x="1028700" y="1692430"/>
            <a:ext cx="4037057" cy="4114800"/>
          </a:xfrm>
          <a:custGeom>
            <a:rect b="b" l="l" r="r" t="t"/>
            <a:pathLst>
              <a:path extrusionOk="0" h="4114800" w="4037057">
                <a:moveTo>
                  <a:pt x="0" y="0"/>
                </a:moveTo>
                <a:lnTo>
                  <a:pt x="4037057" y="0"/>
                </a:lnTo>
                <a:lnTo>
                  <a:pt x="4037057" y="4114800"/>
                </a:lnTo>
                <a:lnTo>
                  <a:pt x="0" y="4114800"/>
                </a:lnTo>
                <a:lnTo>
                  <a:pt x="0" y="0"/>
                </a:lnTo>
                <a:close/>
              </a:path>
            </a:pathLst>
          </a:custGeom>
          <a:blipFill rotWithShape="1">
            <a:blip r:embed="rId3">
              <a:alphaModFix/>
            </a:blip>
            <a:stretch>
              <a:fillRect b="0" l="0" r="0" t="0"/>
            </a:stretch>
          </a:blipFill>
          <a:ln>
            <a:noFill/>
          </a:ln>
        </p:spPr>
      </p:sp>
      <p:sp>
        <p:nvSpPr>
          <p:cNvPr id="414" name="Google Shape;414;p19"/>
          <p:cNvSpPr/>
          <p:nvPr/>
        </p:nvSpPr>
        <p:spPr>
          <a:xfrm>
            <a:off x="2180211" y="6172200"/>
            <a:ext cx="4125113" cy="4114800"/>
          </a:xfrm>
          <a:custGeom>
            <a:rect b="b" l="l" r="r" t="t"/>
            <a:pathLst>
              <a:path extrusionOk="0" h="4114800" w="4125113">
                <a:moveTo>
                  <a:pt x="0" y="0"/>
                </a:moveTo>
                <a:lnTo>
                  <a:pt x="4125113" y="0"/>
                </a:lnTo>
                <a:lnTo>
                  <a:pt x="4125113" y="4114800"/>
                </a:lnTo>
                <a:lnTo>
                  <a:pt x="0" y="4114800"/>
                </a:lnTo>
                <a:lnTo>
                  <a:pt x="0" y="0"/>
                </a:lnTo>
                <a:close/>
              </a:path>
            </a:pathLst>
          </a:custGeom>
          <a:blipFill rotWithShape="1">
            <a:blip r:embed="rId4">
              <a:alphaModFix/>
            </a:blip>
            <a:stretch>
              <a:fillRect b="0" l="0" r="0" t="0"/>
            </a:stretch>
          </a:blipFill>
          <a:ln>
            <a:noFill/>
          </a:ln>
        </p:spPr>
      </p:sp>
      <p:sp>
        <p:nvSpPr>
          <p:cNvPr id="415" name="Google Shape;415;p19"/>
          <p:cNvSpPr txBox="1"/>
          <p:nvPr/>
        </p:nvSpPr>
        <p:spPr>
          <a:xfrm>
            <a:off x="5661790" y="1625755"/>
            <a:ext cx="7747570" cy="6452870"/>
          </a:xfrm>
          <a:prstGeom prst="rect">
            <a:avLst/>
          </a:prstGeom>
          <a:noFill/>
          <a:ln>
            <a:noFill/>
          </a:ln>
        </p:spPr>
        <p:txBody>
          <a:bodyPr anchorCtr="0" anchor="t" bIns="0" lIns="0" spcFirstLastPara="1" rIns="0" wrap="square" tIns="0">
            <a:spAutoFit/>
          </a:bodyPr>
          <a:lstStyle/>
          <a:p>
            <a:pPr indent="0" lvl="0" marL="0" marR="0" rtl="0" algn="ctr">
              <a:lnSpc>
                <a:spcPct val="26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Python</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SQL (MySQL / SQLite)</a:t>
            </a:r>
            <a:r>
              <a:rPr b="0" i="0" lang="en-US" sz="3000" u="none" cap="none" strike="noStrike">
                <a:solidFill>
                  <a:srgbClr val="000000"/>
                </a:solidFill>
                <a:latin typeface="Arial"/>
                <a:ea typeface="Arial"/>
                <a:cs typeface="Arial"/>
                <a:sym typeface="Arial"/>
              </a:rPr>
              <a:t>  </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Power BI</a:t>
            </a:r>
            <a:r>
              <a:rPr b="0" i="0" lang="en-US" sz="3000" u="none" cap="none" strike="noStrike">
                <a:solidFill>
                  <a:srgbClr val="000000"/>
                </a:solidFill>
                <a:latin typeface="Arial"/>
                <a:ea typeface="Arial"/>
                <a:cs typeface="Arial"/>
                <a:sym typeface="Arial"/>
              </a:rPr>
              <a:t> </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Excel</a:t>
            </a:r>
            <a:r>
              <a:rPr b="0" i="0" lang="en-US" sz="3000" u="none" cap="none" strike="noStrike">
                <a:solidFill>
                  <a:srgbClr val="000000"/>
                </a:solidFill>
                <a:latin typeface="Arial"/>
                <a:ea typeface="Arial"/>
                <a:cs typeface="Arial"/>
                <a:sym typeface="Arial"/>
              </a:rPr>
              <a:t> </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Draw.io</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Canvas </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Trello</a:t>
            </a:r>
            <a:endParaRPr/>
          </a:p>
          <a:p>
            <a:pPr indent="-323851" lvl="1" marL="647702" marR="0" rtl="0" algn="ctr">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Arial"/>
                <a:ea typeface="Arial"/>
                <a:cs typeface="Arial"/>
                <a:sym typeface="Arial"/>
              </a:rPr>
              <a:t>Online Documentation &amp; Tutorials – Python, SQL, and Power BI references.</a:t>
            </a:r>
            <a:endParaRPr/>
          </a:p>
          <a:p>
            <a:pPr indent="0" lvl="0" marL="0" marR="0" rtl="0" algn="ctr">
              <a:lnSpc>
                <a:spcPct val="140000"/>
              </a:lnSpc>
              <a:spcBef>
                <a:spcPts val="0"/>
              </a:spcBef>
              <a:spcAft>
                <a:spcPts val="0"/>
              </a:spcAft>
              <a:buNone/>
            </a:pPr>
            <a:r>
              <a:t/>
            </a:r>
            <a:endParaRPr b="1" i="0" sz="3000" u="none" cap="none" strike="noStrike">
              <a:solidFill>
                <a:srgbClr val="000000"/>
              </a:solidFill>
              <a:latin typeface="Arial"/>
              <a:ea typeface="Arial"/>
              <a:cs typeface="Arial"/>
              <a:sym typeface="Arial"/>
            </a:endParaRPr>
          </a:p>
        </p:txBody>
      </p:sp>
      <p:sp>
        <p:nvSpPr>
          <p:cNvPr id="416" name="Google Shape;416;p19"/>
          <p:cNvSpPr txBox="1"/>
          <p:nvPr/>
        </p:nvSpPr>
        <p:spPr>
          <a:xfrm>
            <a:off x="5945731" y="221693"/>
            <a:ext cx="7841947" cy="6299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700" u="none" cap="none" strike="noStrike">
                <a:solidFill>
                  <a:srgbClr val="498E66"/>
                </a:solidFill>
                <a:latin typeface="Arial"/>
                <a:ea typeface="Arial"/>
                <a:cs typeface="Arial"/>
                <a:sym typeface="Arial"/>
              </a:rPr>
              <a:t>Resources &amp; Tools</a:t>
            </a:r>
            <a:r>
              <a:rPr b="1" i="0" lang="en-US" sz="3700" u="none" cap="none" strike="noStrike">
                <a:solidFill>
                  <a:srgbClr val="000000"/>
                </a:solidFill>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FDD"/>
        </a:solidFill>
      </p:bgPr>
    </p:bg>
    <p:spTree>
      <p:nvGrpSpPr>
        <p:cNvPr id="420" name="Shape 420"/>
        <p:cNvGrpSpPr/>
        <p:nvPr/>
      </p:nvGrpSpPr>
      <p:grpSpPr>
        <a:xfrm>
          <a:off x="0" y="0"/>
          <a:ext cx="0" cy="0"/>
          <a:chOff x="0" y="0"/>
          <a:chExt cx="0" cy="0"/>
        </a:xfrm>
      </p:grpSpPr>
      <p:sp>
        <p:nvSpPr>
          <p:cNvPr id="421" name="Google Shape;421;p20"/>
          <p:cNvSpPr/>
          <p:nvPr/>
        </p:nvSpPr>
        <p:spPr>
          <a:xfrm>
            <a:off x="836647" y="190500"/>
            <a:ext cx="16651253" cy="9798624"/>
          </a:xfrm>
          <a:custGeom>
            <a:rect b="b" l="l" r="r" t="t"/>
            <a:pathLst>
              <a:path extrusionOk="0" h="9798624" w="16651253">
                <a:moveTo>
                  <a:pt x="0" y="0"/>
                </a:moveTo>
                <a:lnTo>
                  <a:pt x="16651253" y="0"/>
                </a:lnTo>
                <a:lnTo>
                  <a:pt x="16651253" y="9798624"/>
                </a:lnTo>
                <a:lnTo>
                  <a:pt x="0" y="9798624"/>
                </a:lnTo>
                <a:lnTo>
                  <a:pt x="0" y="0"/>
                </a:lnTo>
                <a:close/>
              </a:path>
            </a:pathLst>
          </a:custGeom>
          <a:blipFill rotWithShape="1">
            <a:blip r:embed="rId3">
              <a:alphaModFix/>
            </a:blip>
            <a:stretch>
              <a:fillRect b="-247" l="0" r="0" t="-819"/>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FDD"/>
        </a:solidFill>
      </p:bgPr>
    </p:bg>
    <p:spTree>
      <p:nvGrpSpPr>
        <p:cNvPr id="425" name="Shape 425"/>
        <p:cNvGrpSpPr/>
        <p:nvPr/>
      </p:nvGrpSpPr>
      <p:grpSpPr>
        <a:xfrm>
          <a:off x="0" y="0"/>
          <a:ext cx="0" cy="0"/>
          <a:chOff x="0" y="0"/>
          <a:chExt cx="0" cy="0"/>
        </a:xfrm>
      </p:grpSpPr>
      <p:sp>
        <p:nvSpPr>
          <p:cNvPr id="426" name="Google Shape;426;p21"/>
          <p:cNvSpPr/>
          <p:nvPr/>
        </p:nvSpPr>
        <p:spPr>
          <a:xfrm>
            <a:off x="623477" y="114300"/>
            <a:ext cx="17041046" cy="10058400"/>
          </a:xfrm>
          <a:custGeom>
            <a:rect b="b" l="l" r="r" t="t"/>
            <a:pathLst>
              <a:path extrusionOk="0" h="10058400" w="17041046">
                <a:moveTo>
                  <a:pt x="0" y="0"/>
                </a:moveTo>
                <a:lnTo>
                  <a:pt x="17041046" y="0"/>
                </a:lnTo>
                <a:lnTo>
                  <a:pt x="17041046" y="10058400"/>
                </a:lnTo>
                <a:lnTo>
                  <a:pt x="0" y="10058400"/>
                </a:lnTo>
                <a:lnTo>
                  <a:pt x="0" y="0"/>
                </a:lnTo>
                <a:close/>
              </a:path>
            </a:pathLst>
          </a:custGeom>
          <a:blipFill rotWithShape="1">
            <a:blip r:embed="rId3">
              <a:alphaModFix/>
            </a:blip>
            <a:stretch>
              <a:fillRect b="-547" l="0" r="-220" t="-478"/>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FDD"/>
        </a:solidFill>
      </p:bgPr>
    </p:bg>
    <p:spTree>
      <p:nvGrpSpPr>
        <p:cNvPr id="430" name="Shape 430"/>
        <p:cNvGrpSpPr/>
        <p:nvPr/>
      </p:nvGrpSpPr>
      <p:grpSpPr>
        <a:xfrm>
          <a:off x="0" y="0"/>
          <a:ext cx="0" cy="0"/>
          <a:chOff x="0" y="0"/>
          <a:chExt cx="0" cy="0"/>
        </a:xfrm>
      </p:grpSpPr>
      <p:sp>
        <p:nvSpPr>
          <p:cNvPr id="431" name="Google Shape;431;p22"/>
          <p:cNvSpPr/>
          <p:nvPr/>
        </p:nvSpPr>
        <p:spPr>
          <a:xfrm>
            <a:off x="436061" y="0"/>
            <a:ext cx="17051839" cy="10020107"/>
          </a:xfrm>
          <a:custGeom>
            <a:rect b="b" l="l" r="r" t="t"/>
            <a:pathLst>
              <a:path extrusionOk="0" h="10020107" w="17051839">
                <a:moveTo>
                  <a:pt x="0" y="0"/>
                </a:moveTo>
                <a:lnTo>
                  <a:pt x="17051839" y="0"/>
                </a:lnTo>
                <a:lnTo>
                  <a:pt x="17051839" y="10020107"/>
                </a:lnTo>
                <a:lnTo>
                  <a:pt x="0" y="10020107"/>
                </a:lnTo>
                <a:lnTo>
                  <a:pt x="0" y="0"/>
                </a:lnTo>
                <a:close/>
              </a:path>
            </a:pathLst>
          </a:custGeom>
          <a:blipFill rotWithShape="1">
            <a:blip r:embed="rId3">
              <a:alphaModFix/>
            </a:blip>
            <a:stretch>
              <a:fillRect b="-5595" l="0" r="0" t="-972"/>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5" name="Shape 43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